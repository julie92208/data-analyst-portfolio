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1"/>
  </p:sldMasterIdLst>
  <p:notesMasterIdLst>
    <p:notesMasterId r:id="rId12"/>
  </p:notesMasterIdLst>
  <p:sldIdLst>
    <p:sldId id="256" r:id="rId2"/>
    <p:sldId id="268" r:id="rId3"/>
    <p:sldId id="271" r:id="rId4"/>
    <p:sldId id="257" r:id="rId5"/>
    <p:sldId id="313" r:id="rId6"/>
    <p:sldId id="276" r:id="rId7"/>
    <p:sldId id="259" r:id="rId8"/>
    <p:sldId id="261" r:id="rId9"/>
    <p:sldId id="314" r:id="rId10"/>
    <p:sldId id="315"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1E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7F7F96-63CE-423D-B757-84AD032D5FBD}">
  <a:tblStyle styleId="{1C7F7F96-63CE-423D-B757-84AD032D5FB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2"/>
    <p:restoredTop sz="78154"/>
  </p:normalViewPr>
  <p:slideViewPr>
    <p:cSldViewPr snapToGrid="0">
      <p:cViewPr varScale="1">
        <p:scale>
          <a:sx n="85" d="100"/>
          <a:sy n="85" d="100"/>
        </p:scale>
        <p:origin x="1306" y="-3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S25_INFO8677_sec2_Group1_Group Project</a:t>
            </a:r>
          </a:p>
          <a:p>
            <a:pPr marL="0" lvl="0" indent="0" algn="l" rtl="0">
              <a:spcBef>
                <a:spcPts val="0"/>
              </a:spcBef>
              <a:spcAft>
                <a:spcPts val="0"/>
              </a:spcAft>
              <a:buNone/>
            </a:pPr>
            <a:r>
              <a:rPr lang="en-US" altLang="zh-TW" dirty="0"/>
              <a:t>Aug</a:t>
            </a:r>
            <a:r>
              <a:rPr lang="zh-TW" altLang="en-US" dirty="0"/>
              <a:t> </a:t>
            </a:r>
            <a:r>
              <a:rPr lang="en-US" altLang="zh-TW" dirty="0"/>
              <a:t>04</a:t>
            </a:r>
            <a:r>
              <a:rPr lang="zh-TW" altLang="en-US" dirty="0"/>
              <a:t> </a:t>
            </a:r>
            <a:r>
              <a:rPr lang="en-US" altLang="zh-TW" dirty="0"/>
              <a:t>2025</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d313741446_0_1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d313741446_0_1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d313741446_0_1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d313741446_0_1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TW" dirty="0"/>
              <a:t>1.</a:t>
            </a:r>
            <a:r>
              <a:rPr lang="zh-TW" altLang="en-US" dirty="0"/>
              <a:t> </a:t>
            </a:r>
            <a:r>
              <a:rPr lang="en-US" b="1" dirty="0"/>
              <a:t>Regional Disparity in Nurse-to-Doctor Ratios</a:t>
            </a:r>
            <a:endParaRPr lang="en-US" dirty="0"/>
          </a:p>
          <a:p>
            <a:pPr>
              <a:buFont typeface="Arial" panose="020B0604020202020204" pitchFamily="34" charset="0"/>
              <a:buChar char="•"/>
            </a:pPr>
            <a:r>
              <a:rPr lang="en-US" b="1" dirty="0"/>
              <a:t>Insight:</a:t>
            </a:r>
            <a:r>
              <a:rPr lang="en-US" dirty="0"/>
              <a:t> Significant regional gaps exist in average nurse-to-doctor ratios.</a:t>
            </a:r>
          </a:p>
          <a:p>
            <a:pPr>
              <a:buFont typeface="Arial" panose="020B0604020202020204" pitchFamily="34" charset="0"/>
              <a:buChar char="•"/>
            </a:pPr>
            <a:r>
              <a:rPr lang="en-US" b="1" dirty="0"/>
              <a:t>Finding:</a:t>
            </a:r>
            <a:r>
              <a:rPr lang="en-US" dirty="0"/>
              <a:t> </a:t>
            </a:r>
            <a:r>
              <a:rPr lang="en-US" b="1" dirty="0"/>
              <a:t>Africa</a:t>
            </a:r>
            <a:r>
              <a:rPr lang="en-US" dirty="0"/>
              <a:t> has the highest average ratio at </a:t>
            </a:r>
            <a:r>
              <a:rPr lang="en-US" b="1" dirty="0"/>
              <a:t>7.25</a:t>
            </a:r>
            <a:r>
              <a:rPr lang="en-US" dirty="0"/>
              <a:t>, indicating a substantial reliance on nursing personnel compared to other regions.</a:t>
            </a:r>
          </a:p>
          <a:p>
            <a:pPr marL="0" lvl="0" indent="0" algn="l" rtl="0">
              <a:spcBef>
                <a:spcPts val="0"/>
              </a:spcBef>
              <a:spcAft>
                <a:spcPts val="0"/>
              </a:spcAft>
              <a:buNone/>
            </a:pPr>
            <a:endParaRPr lang="en-US" dirty="0"/>
          </a:p>
          <a:p>
            <a:r>
              <a:rPr lang="en-US" b="1" dirty="0"/>
              <a:t>Divergent Trends in Nurse-to-Doctor Ratios (201</a:t>
            </a:r>
            <a:r>
              <a:rPr lang="en-US" altLang="zh-TW" b="1" dirty="0"/>
              <a:t>8</a:t>
            </a:r>
            <a:r>
              <a:rPr lang="en-US" b="1" dirty="0"/>
              <a:t>-202</a:t>
            </a:r>
            <a:r>
              <a:rPr lang="en-US" altLang="zh-TW" b="1" dirty="0"/>
              <a:t>3</a:t>
            </a:r>
            <a:r>
              <a:rPr lang="en-US" b="1" dirty="0"/>
              <a:t>)</a:t>
            </a:r>
            <a:endParaRPr lang="en-US" dirty="0"/>
          </a:p>
          <a:p>
            <a:pPr>
              <a:buFont typeface="Arial" panose="020B0604020202020204" pitchFamily="34" charset="0"/>
              <a:buChar char="•"/>
            </a:pPr>
            <a:r>
              <a:rPr lang="en-US" b="1" dirty="0"/>
              <a:t>Insight:</a:t>
            </a:r>
            <a:r>
              <a:rPr lang="en-US" dirty="0"/>
              <a:t> Countries with high initial ratios</a:t>
            </a:r>
            <a:r>
              <a:rPr lang="zh-TW" altLang="en-US" dirty="0"/>
              <a:t> </a:t>
            </a:r>
            <a:r>
              <a:rPr lang="en-US" dirty="0"/>
              <a:t>show stable or increasing imbalance, indicating growing nurse dependency.</a:t>
            </a:r>
          </a:p>
          <a:p>
            <a:pPr>
              <a:buFont typeface="Arial" panose="020B0604020202020204" pitchFamily="34" charset="0"/>
              <a:buChar char="•"/>
            </a:pPr>
            <a:r>
              <a:rPr lang="en-US" b="1" dirty="0"/>
              <a:t>Finding:</a:t>
            </a:r>
            <a:r>
              <a:rPr lang="en-US" dirty="0"/>
              <a:t> Low-ratio regions exhibit stable or slowly increasing trends, suggesting more mature healthcare systems.</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TOP 5 Countries by Nurse-to-Doctor Ratios</a:t>
            </a:r>
            <a:endParaRPr lang="en-US" dirty="0"/>
          </a:p>
          <a:p>
            <a:pPr>
              <a:buFont typeface="Arial" panose="020B0604020202020204" pitchFamily="34" charset="0"/>
              <a:buChar char="•"/>
            </a:pPr>
            <a:r>
              <a:rPr lang="en-US" b="1" dirty="0"/>
              <a:t>Insight:</a:t>
            </a:r>
            <a:r>
              <a:rPr lang="en-US" dirty="0"/>
              <a:t> Countries with the highest nurse-to-doctor ratios are predominantly from Africa, confirming a strong regional pattern.</a:t>
            </a:r>
          </a:p>
          <a:p>
            <a:pPr>
              <a:buFont typeface="Arial" panose="020B0604020202020204" pitchFamily="34" charset="0"/>
              <a:buChar char="•"/>
            </a:pPr>
            <a:r>
              <a:rPr lang="en-US" b="1" dirty="0"/>
              <a:t>Finding:</a:t>
            </a:r>
            <a:r>
              <a:rPr lang="en-US" dirty="0"/>
              <a:t> The top 5 countries (Ghana, Eritrea, Eswatini, South Sudan, Malawi) are all located in </a:t>
            </a:r>
            <a:r>
              <a:rPr lang="en-US" b="1" dirty="0"/>
              <a:t>Africa</a:t>
            </a:r>
            <a:r>
              <a:rPr lang="en-US" dirty="0"/>
              <a:t>, with ratios ranging from </a:t>
            </a:r>
            <a:r>
              <a:rPr lang="en-US" b="1" dirty="0"/>
              <a:t>15.29 to 24.32</a:t>
            </a:r>
            <a:r>
              <a:rPr lang="en-US" dirty="0"/>
              <a:t>.</a:t>
            </a:r>
          </a:p>
          <a:p>
            <a:r>
              <a:rPr lang="en-US" b="1" dirty="0"/>
              <a:t>Doctors and Nurses in Canada (2018-2023)</a:t>
            </a:r>
            <a:endParaRPr lang="en-US" dirty="0"/>
          </a:p>
          <a:p>
            <a:pPr>
              <a:buFont typeface="Arial" panose="020B0604020202020204" pitchFamily="34" charset="0"/>
              <a:buChar char="•"/>
            </a:pPr>
            <a:r>
              <a:rPr lang="en-US" b="1" dirty="0"/>
              <a:t>Insight:</a:t>
            </a:r>
            <a:r>
              <a:rPr lang="en-US" dirty="0"/>
              <a:t> Canada shows a significant increase in nurse numbers, while doctor growth is modest.</a:t>
            </a:r>
          </a:p>
          <a:p>
            <a:pPr>
              <a:buFont typeface="Arial" panose="020B0604020202020204" pitchFamily="34" charset="0"/>
              <a:buChar char="•"/>
            </a:pPr>
            <a:r>
              <a:rPr lang="en-US" b="1" dirty="0"/>
              <a:t>Finding:</a:t>
            </a:r>
            <a:r>
              <a:rPr lang="en-US" dirty="0"/>
              <a:t> Nurses in Canada increased from </a:t>
            </a:r>
            <a:r>
              <a:rPr lang="en-US" b="1" dirty="0"/>
              <a:t>59,949 in 2018 to 294,971 in 2023</a:t>
            </a:r>
            <a:r>
              <a:rPr lang="en-US" dirty="0"/>
              <a:t>. Doctors increased from </a:t>
            </a:r>
            <a:r>
              <a:rPr lang="en-US" b="1" dirty="0"/>
              <a:t>185,152 in 2018 to 264,354 in 2022</a:t>
            </a:r>
            <a:r>
              <a:rPr lang="en-US" dirty="0"/>
              <a:t>, then slightly decreased to </a:t>
            </a:r>
            <a:r>
              <a:rPr lang="en-US" b="1" dirty="0"/>
              <a:t>55,395 in 2023</a:t>
            </a:r>
            <a:r>
              <a:rPr lang="en-US" dirty="0"/>
              <a:t>. This indicates a growing reliance on nursing staff.</a:t>
            </a:r>
          </a:p>
          <a:p>
            <a:r>
              <a:rPr lang="en-US" b="1" dirty="0"/>
              <a:t>Correlation Between Doctors and Nurses (2023)</a:t>
            </a:r>
            <a:endParaRPr lang="en-US" dirty="0"/>
          </a:p>
          <a:p>
            <a:pPr>
              <a:buFont typeface="Arial" panose="020B0604020202020204" pitchFamily="34" charset="0"/>
              <a:buChar char="•"/>
            </a:pPr>
            <a:r>
              <a:rPr lang="en-US" b="1" dirty="0"/>
              <a:t>Insight:</a:t>
            </a:r>
            <a:r>
              <a:rPr lang="en-US" dirty="0"/>
              <a:t> A positive correlation exists between doctor and nurse numbers globally, but with regional variations.</a:t>
            </a:r>
          </a:p>
          <a:p>
            <a:pPr>
              <a:buFont typeface="Arial" panose="020B0604020202020204" pitchFamily="34" charset="0"/>
              <a:buChar char="•"/>
            </a:pPr>
            <a:r>
              <a:rPr lang="en-US" b="1" dirty="0"/>
              <a:t>Finding:</a:t>
            </a:r>
            <a:r>
              <a:rPr lang="en-US" dirty="0"/>
              <a:t> Higher doctor counts generally correlate with higher nurse counts, suggesting coordinated staffing. However, countries like Ghana (24,323 doctors, 19,289 nurses) show lower absolute numbers compared to developed nations like Canada (192,496 doctors, 261,265 nurses).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96380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d313864b49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2" name="Google Shape;932;gd313864b49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6371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8452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001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94075" y="1119250"/>
            <a:ext cx="4371000" cy="240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48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401375" y="3695341"/>
            <a:ext cx="2756400" cy="70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861625" y="-120072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720000" y="1085425"/>
            <a:ext cx="7887900" cy="461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191919"/>
                </a:solidFill>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
        <p:nvSpPr>
          <p:cNvPr id="22" name="Google Shape;22;p4"/>
          <p:cNvSpPr/>
          <p:nvPr/>
        </p:nvSpPr>
        <p:spPr>
          <a:xfrm>
            <a:off x="-1258975" y="10177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a:off x="6265625" y="483017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1991650" y="1354713"/>
            <a:ext cx="5183700" cy="172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10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7"/>
          <p:cNvSpPr txBox="1">
            <a:spLocks noGrp="1"/>
          </p:cNvSpPr>
          <p:nvPr>
            <p:ph type="subTitle" idx="1"/>
          </p:nvPr>
        </p:nvSpPr>
        <p:spPr>
          <a:xfrm>
            <a:off x="2147050" y="3014563"/>
            <a:ext cx="4872900" cy="80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 name="Google Shape;41;p7"/>
          <p:cNvSpPr/>
          <p:nvPr/>
        </p:nvSpPr>
        <p:spPr>
          <a:xfrm>
            <a:off x="-617962" y="43267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7"/>
          <p:cNvGrpSpPr/>
          <p:nvPr/>
        </p:nvGrpSpPr>
        <p:grpSpPr>
          <a:xfrm rot="10800000">
            <a:off x="2574011" y="3989325"/>
            <a:ext cx="3995951" cy="564600"/>
            <a:chOff x="1524913" y="922950"/>
            <a:chExt cx="6094175" cy="564600"/>
          </a:xfrm>
        </p:grpSpPr>
        <p:cxnSp>
          <p:nvCxnSpPr>
            <p:cNvPr id="43" name="Google Shape;43;p7"/>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44" name="Google Shape;44;p7"/>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grpSp>
        <p:nvGrpSpPr>
          <p:cNvPr id="45" name="Google Shape;45;p7"/>
          <p:cNvGrpSpPr/>
          <p:nvPr/>
        </p:nvGrpSpPr>
        <p:grpSpPr>
          <a:xfrm>
            <a:off x="2574011" y="589575"/>
            <a:ext cx="3995951" cy="564600"/>
            <a:chOff x="1524913" y="922950"/>
            <a:chExt cx="6094175" cy="564600"/>
          </a:xfrm>
        </p:grpSpPr>
        <p:cxnSp>
          <p:nvCxnSpPr>
            <p:cNvPr id="46" name="Google Shape;46;p7"/>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47" name="Google Shape;47;p7"/>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
        <p:nvSpPr>
          <p:cNvPr id="48" name="Google Shape;48;p7"/>
          <p:cNvSpPr/>
          <p:nvPr/>
        </p:nvSpPr>
        <p:spPr>
          <a:xfrm>
            <a:off x="7988313" y="-116250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
  <p:cSld name="CUSTOM_8">
    <p:spTree>
      <p:nvGrpSpPr>
        <p:cNvPr id="1" name="Shape 86"/>
        <p:cNvGrpSpPr/>
        <p:nvPr/>
      </p:nvGrpSpPr>
      <p:grpSpPr>
        <a:xfrm>
          <a:off x="0" y="0"/>
          <a:ext cx="0" cy="0"/>
          <a:chOff x="0" y="0"/>
          <a:chExt cx="0" cy="0"/>
        </a:xfrm>
      </p:grpSpPr>
      <p:sp>
        <p:nvSpPr>
          <p:cNvPr id="87" name="Google Shape;87;p15"/>
          <p:cNvSpPr txBox="1">
            <a:spLocks noGrp="1"/>
          </p:cNvSpPr>
          <p:nvPr>
            <p:ph type="subTitle" idx="1"/>
          </p:nvPr>
        </p:nvSpPr>
        <p:spPr>
          <a:xfrm>
            <a:off x="1309200" y="3487862"/>
            <a:ext cx="6525600" cy="88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8" name="Google Shape;88;p1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 name="Google Shape;89;p15"/>
          <p:cNvSpPr/>
          <p:nvPr/>
        </p:nvSpPr>
        <p:spPr>
          <a:xfrm>
            <a:off x="-617962" y="13275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7988313" y="13275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2">
  <p:cSld name="CUSTOM_10">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 name="Google Shape;122;p20"/>
          <p:cNvSpPr/>
          <p:nvPr/>
        </p:nvSpPr>
        <p:spPr>
          <a:xfrm>
            <a:off x="-825000" y="-58675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0"/>
          <p:cNvSpPr/>
          <p:nvPr/>
        </p:nvSpPr>
        <p:spPr>
          <a:xfrm>
            <a:off x="7907150" y="356027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4">
  <p:cSld name="CUSTOM_10_1_1">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0" name="Google Shape;130;p22"/>
          <p:cNvSpPr/>
          <p:nvPr/>
        </p:nvSpPr>
        <p:spPr>
          <a:xfrm>
            <a:off x="-916400" y="4464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2"/>
          <p:cNvSpPr/>
          <p:nvPr/>
        </p:nvSpPr>
        <p:spPr>
          <a:xfrm>
            <a:off x="8283777" y="352814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32">
    <p:spTree>
      <p:nvGrpSpPr>
        <p:cNvPr id="1" name="Shape 213"/>
        <p:cNvGrpSpPr/>
        <p:nvPr/>
      </p:nvGrpSpPr>
      <p:grpSpPr>
        <a:xfrm>
          <a:off x="0" y="0"/>
          <a:ext cx="0" cy="0"/>
          <a:chOff x="0" y="0"/>
          <a:chExt cx="0" cy="0"/>
        </a:xfrm>
      </p:grpSpPr>
      <p:sp>
        <p:nvSpPr>
          <p:cNvPr id="214" name="Google Shape;214;p38"/>
          <p:cNvSpPr/>
          <p:nvPr/>
        </p:nvSpPr>
        <p:spPr>
          <a:xfrm>
            <a:off x="-617962" y="43267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38"/>
          <p:cNvGrpSpPr/>
          <p:nvPr/>
        </p:nvGrpSpPr>
        <p:grpSpPr>
          <a:xfrm rot="10800000">
            <a:off x="2574011" y="4162663"/>
            <a:ext cx="3995951" cy="564600"/>
            <a:chOff x="1524913" y="922950"/>
            <a:chExt cx="6094175" cy="564600"/>
          </a:xfrm>
        </p:grpSpPr>
        <p:cxnSp>
          <p:nvCxnSpPr>
            <p:cNvPr id="216" name="Google Shape;216;p38"/>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217" name="Google Shape;217;p38"/>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grpSp>
        <p:nvGrpSpPr>
          <p:cNvPr id="218" name="Google Shape;218;p38"/>
          <p:cNvGrpSpPr/>
          <p:nvPr/>
        </p:nvGrpSpPr>
        <p:grpSpPr>
          <a:xfrm>
            <a:off x="2574011" y="762913"/>
            <a:ext cx="3995951" cy="564600"/>
            <a:chOff x="1524913" y="922950"/>
            <a:chExt cx="6094175" cy="564600"/>
          </a:xfrm>
        </p:grpSpPr>
        <p:cxnSp>
          <p:nvCxnSpPr>
            <p:cNvPr id="219" name="Google Shape;219;p38"/>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220" name="Google Shape;220;p38"/>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
        <p:nvSpPr>
          <p:cNvPr id="221" name="Google Shape;221;p38"/>
          <p:cNvSpPr/>
          <p:nvPr/>
        </p:nvSpPr>
        <p:spPr>
          <a:xfrm>
            <a:off x="7988313" y="-116250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32_1">
    <p:spTree>
      <p:nvGrpSpPr>
        <p:cNvPr id="1" name="Shape 222"/>
        <p:cNvGrpSpPr/>
        <p:nvPr/>
      </p:nvGrpSpPr>
      <p:grpSpPr>
        <a:xfrm>
          <a:off x="0" y="0"/>
          <a:ext cx="0" cy="0"/>
          <a:chOff x="0" y="0"/>
          <a:chExt cx="0" cy="0"/>
        </a:xfrm>
      </p:grpSpPr>
      <p:sp>
        <p:nvSpPr>
          <p:cNvPr id="223" name="Google Shape;223;p39"/>
          <p:cNvSpPr/>
          <p:nvPr/>
        </p:nvSpPr>
        <p:spPr>
          <a:xfrm>
            <a:off x="576927" y="412524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9"/>
          <p:cNvSpPr/>
          <p:nvPr/>
        </p:nvSpPr>
        <p:spPr>
          <a:xfrm>
            <a:off x="6812003" y="-107485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5" name="Google Shape;225;p39"/>
          <p:cNvCxnSpPr/>
          <p:nvPr/>
        </p:nvCxnSpPr>
        <p:spPr>
          <a:xfrm>
            <a:off x="2572500" y="4748213"/>
            <a:ext cx="3999000" cy="0"/>
          </a:xfrm>
          <a:prstGeom prst="straightConnector1">
            <a:avLst/>
          </a:prstGeom>
          <a:noFill/>
          <a:ln w="19050" cap="flat" cmpd="sng">
            <a:solidFill>
              <a:schemeClr val="accent1"/>
            </a:solidFill>
            <a:prstDash val="solid"/>
            <a:round/>
            <a:headEnd type="none" w="med" len="med"/>
            <a:tailEnd type="none" w="med" len="med"/>
          </a:ln>
        </p:spPr>
      </p:cxnSp>
      <p:cxnSp>
        <p:nvCxnSpPr>
          <p:cNvPr id="226" name="Google Shape;226;p39"/>
          <p:cNvCxnSpPr/>
          <p:nvPr/>
        </p:nvCxnSpPr>
        <p:spPr>
          <a:xfrm>
            <a:off x="2572500" y="374619"/>
            <a:ext cx="39990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61"/>
        <p:cNvGrpSpPr/>
        <p:nvPr/>
      </p:nvGrpSpPr>
      <p:grpSpPr>
        <a:xfrm>
          <a:off x="0" y="0"/>
          <a:ext cx="0" cy="0"/>
          <a:chOff x="0" y="0"/>
          <a:chExt cx="0" cy="0"/>
        </a:xfrm>
      </p:grpSpPr>
      <p:sp>
        <p:nvSpPr>
          <p:cNvPr id="162" name="Google Shape;162;p3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3" name="Google Shape;163;p32"/>
          <p:cNvSpPr txBox="1">
            <a:spLocks noGrp="1"/>
          </p:cNvSpPr>
          <p:nvPr>
            <p:ph type="title" idx="2"/>
          </p:nvPr>
        </p:nvSpPr>
        <p:spPr>
          <a:xfrm>
            <a:off x="2334825" y="1533138"/>
            <a:ext cx="1871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4" name="Google Shape;164;p32"/>
          <p:cNvSpPr txBox="1">
            <a:spLocks noGrp="1"/>
          </p:cNvSpPr>
          <p:nvPr>
            <p:ph type="subTitle" idx="1"/>
          </p:nvPr>
        </p:nvSpPr>
        <p:spPr>
          <a:xfrm>
            <a:off x="2334825" y="2026850"/>
            <a:ext cx="2078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5" name="Google Shape;165;p32"/>
          <p:cNvSpPr txBox="1">
            <a:spLocks noGrp="1"/>
          </p:cNvSpPr>
          <p:nvPr>
            <p:ph type="title" idx="3"/>
          </p:nvPr>
        </p:nvSpPr>
        <p:spPr>
          <a:xfrm>
            <a:off x="5900425" y="1533138"/>
            <a:ext cx="1871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6" name="Google Shape;166;p32"/>
          <p:cNvSpPr txBox="1">
            <a:spLocks noGrp="1"/>
          </p:cNvSpPr>
          <p:nvPr>
            <p:ph type="subTitle" idx="4"/>
          </p:nvPr>
        </p:nvSpPr>
        <p:spPr>
          <a:xfrm>
            <a:off x="5900475" y="2026850"/>
            <a:ext cx="207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7" name="Google Shape;167;p32"/>
          <p:cNvSpPr txBox="1">
            <a:spLocks noGrp="1"/>
          </p:cNvSpPr>
          <p:nvPr>
            <p:ph type="title" idx="5"/>
          </p:nvPr>
        </p:nvSpPr>
        <p:spPr>
          <a:xfrm>
            <a:off x="2334825" y="2966538"/>
            <a:ext cx="1871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68" name="Google Shape;168;p32"/>
          <p:cNvSpPr txBox="1">
            <a:spLocks noGrp="1"/>
          </p:cNvSpPr>
          <p:nvPr>
            <p:ph type="subTitle" idx="6"/>
          </p:nvPr>
        </p:nvSpPr>
        <p:spPr>
          <a:xfrm>
            <a:off x="2334825" y="3460250"/>
            <a:ext cx="2078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9" name="Google Shape;169;p32"/>
          <p:cNvSpPr txBox="1">
            <a:spLocks noGrp="1"/>
          </p:cNvSpPr>
          <p:nvPr>
            <p:ph type="title" idx="7"/>
          </p:nvPr>
        </p:nvSpPr>
        <p:spPr>
          <a:xfrm>
            <a:off x="5900425" y="2966538"/>
            <a:ext cx="1871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0" name="Google Shape;170;p32"/>
          <p:cNvSpPr txBox="1">
            <a:spLocks noGrp="1"/>
          </p:cNvSpPr>
          <p:nvPr>
            <p:ph type="subTitle" idx="8"/>
          </p:nvPr>
        </p:nvSpPr>
        <p:spPr>
          <a:xfrm>
            <a:off x="5900475" y="3460250"/>
            <a:ext cx="2078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1" name="Google Shape;171;p32"/>
          <p:cNvSpPr/>
          <p:nvPr/>
        </p:nvSpPr>
        <p:spPr>
          <a:xfrm>
            <a:off x="-471590" y="-138507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2"/>
          <p:cNvSpPr/>
          <p:nvPr/>
        </p:nvSpPr>
        <p:spPr>
          <a:xfrm>
            <a:off x="7874509" y="44850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864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1pPr>
            <a:lvl2pPr lvl="1"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2pPr>
            <a:lvl3pPr lvl="2"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3pPr>
            <a:lvl4pPr lvl="3"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4pPr>
            <a:lvl5pPr lvl="4"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5pPr>
            <a:lvl6pPr lvl="5"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6pPr>
            <a:lvl7pPr lvl="6"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7pPr>
            <a:lvl8pPr lvl="7"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8pPr>
            <a:lvl9pPr lvl="8" rtl="0">
              <a:spcBef>
                <a:spcPts val="0"/>
              </a:spcBef>
              <a:spcAft>
                <a:spcPts val="0"/>
              </a:spcAft>
              <a:buClr>
                <a:schemeClr val="dk1"/>
              </a:buClr>
              <a:buSzPts val="2800"/>
              <a:buFont typeface="Sora"/>
              <a:buNone/>
              <a:defRPr sz="28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Exo"/>
              <a:buChar char="●"/>
              <a:defRPr>
                <a:solidFill>
                  <a:schemeClr val="dk1"/>
                </a:solidFill>
                <a:latin typeface="Exo"/>
                <a:ea typeface="Exo"/>
                <a:cs typeface="Exo"/>
                <a:sym typeface="Exo"/>
              </a:defRPr>
            </a:lvl1pPr>
            <a:lvl2pPr marL="914400" lvl="1"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2pPr>
            <a:lvl3pPr marL="1371600" lvl="2"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3pPr>
            <a:lvl4pPr marL="1828800" lvl="3"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4pPr>
            <a:lvl5pPr marL="2286000" lvl="4"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5pPr>
            <a:lvl6pPr marL="2743200" lvl="5"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6pPr>
            <a:lvl7pPr marL="3200400" lvl="6"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7pPr>
            <a:lvl8pPr marL="3657600" lvl="7"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8pPr>
            <a:lvl9pPr marL="4114800" lvl="8" indent="-317500">
              <a:lnSpc>
                <a:spcPct val="100000"/>
              </a:lnSpc>
              <a:spcBef>
                <a:spcPts val="1600"/>
              </a:spcBef>
              <a:spcAft>
                <a:spcPts val="1600"/>
              </a:spcAft>
              <a:buClr>
                <a:schemeClr val="dk1"/>
              </a:buClr>
              <a:buSzPts val="1400"/>
              <a:buFont typeface="Exo"/>
              <a:buChar char="■"/>
              <a:defRPr>
                <a:solidFill>
                  <a:schemeClr val="dk1"/>
                </a:solidFill>
                <a:latin typeface="Exo"/>
                <a:ea typeface="Exo"/>
                <a:cs typeface="Exo"/>
                <a:sym typeface="Ex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8" r:id="rId4"/>
    <p:sldLayoutId id="2147483661" r:id="rId5"/>
    <p:sldLayoutId id="2147483666" r:id="rId6"/>
    <p:sldLayoutId id="2147483668" r:id="rId7"/>
    <p:sldLayoutId id="2147483684" r:id="rId8"/>
    <p:sldLayoutId id="2147483685" r:id="rId9"/>
    <p:sldLayoutId id="214748368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gif"/></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3" name="Picture 2">
            <a:extLst>
              <a:ext uri="{FF2B5EF4-FFF2-40B4-BE49-F238E27FC236}">
                <a16:creationId xmlns:a16="http://schemas.microsoft.com/office/drawing/2014/main" id="{18F1B507-0010-6F60-82AD-E9A35CE486A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51" b="94840" l="9780" r="89976">
                        <a14:foregroundMark x1="73961" y1="50123" x2="73961" y2="50123"/>
                        <a14:foregroundMark x1="55257" y1="93489" x2="55257" y2="93489"/>
                        <a14:foregroundMark x1="39242" y1="94840" x2="39242" y2="94840"/>
                        <a14:foregroundMark x1="75061" y1="31572" x2="75061" y2="31572"/>
                        <a14:foregroundMark x1="74328" y1="23219" x2="74328" y2="23219"/>
                        <a14:foregroundMark x1="81785" y1="43243" x2="81785" y2="43243"/>
                        <a14:foregroundMark x1="43276" y1="45577" x2="43276" y2="45577"/>
                      </a14:backgroundRemoval>
                    </a14:imgEffect>
                  </a14:imgLayer>
                </a14:imgProps>
              </a:ext>
            </a:extLst>
          </a:blip>
          <a:stretch>
            <a:fillRect/>
          </a:stretch>
        </p:blipFill>
        <p:spPr>
          <a:xfrm>
            <a:off x="4777562" y="713512"/>
            <a:ext cx="4652275" cy="4628539"/>
          </a:xfrm>
          <a:prstGeom prst="rect">
            <a:avLst/>
          </a:prstGeom>
        </p:spPr>
      </p:pic>
      <p:sp>
        <p:nvSpPr>
          <p:cNvPr id="235" name="Google Shape;235;p42"/>
          <p:cNvSpPr txBox="1">
            <a:spLocks noGrp="1"/>
          </p:cNvSpPr>
          <p:nvPr>
            <p:ph type="ctrTitle"/>
          </p:nvPr>
        </p:nvSpPr>
        <p:spPr>
          <a:xfrm>
            <a:off x="-119800" y="1080885"/>
            <a:ext cx="5991209" cy="240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0" dirty="0"/>
              <a:t>Global Healthcare Workforce Imbalance</a:t>
            </a:r>
            <a:endParaRPr b="0" dirty="0"/>
          </a:p>
        </p:txBody>
      </p:sp>
      <p:sp>
        <p:nvSpPr>
          <p:cNvPr id="237" name="Google Shape;237;p42"/>
          <p:cNvSpPr/>
          <p:nvPr/>
        </p:nvSpPr>
        <p:spPr>
          <a:xfrm>
            <a:off x="777837" y="3724613"/>
            <a:ext cx="4003500" cy="629100"/>
          </a:xfrm>
          <a:prstGeom prst="roundRect">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2"/>
          <p:cNvSpPr txBox="1">
            <a:spLocks noGrp="1"/>
          </p:cNvSpPr>
          <p:nvPr>
            <p:ph type="subTitle" idx="1"/>
          </p:nvPr>
        </p:nvSpPr>
        <p:spPr>
          <a:xfrm>
            <a:off x="1401375" y="3695341"/>
            <a:ext cx="2756400" cy="70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zh-TW" dirty="0" err="1"/>
              <a:t>Ya-Jwu</a:t>
            </a:r>
            <a:r>
              <a:rPr lang="zh-TW" altLang="en-US" dirty="0"/>
              <a:t> </a:t>
            </a:r>
            <a:r>
              <a:rPr lang="en-US" altLang="zh-TW" dirty="0"/>
              <a:t>Jang</a:t>
            </a:r>
            <a:r>
              <a:rPr lang="zh-TW" altLang="en-US" dirty="0"/>
              <a:t> </a:t>
            </a:r>
            <a:r>
              <a:rPr lang="en-US" altLang="zh-TW" dirty="0"/>
              <a:t>9015996</a:t>
            </a:r>
          </a:p>
          <a:p>
            <a:pPr marL="0" lvl="0" indent="0" algn="ctr" rtl="0">
              <a:spcBef>
                <a:spcPts val="0"/>
              </a:spcBef>
              <a:spcAft>
                <a:spcPts val="0"/>
              </a:spcAft>
              <a:buNone/>
            </a:pPr>
            <a:r>
              <a:rPr lang="en-US" altLang="zh-TW" dirty="0"/>
              <a:t>Naveen</a:t>
            </a:r>
            <a:r>
              <a:rPr lang="zh-TW" altLang="en-US" dirty="0"/>
              <a:t> </a:t>
            </a:r>
            <a:r>
              <a:rPr lang="en-US" altLang="zh-TW" dirty="0" err="1"/>
              <a:t>Sengamalam</a:t>
            </a:r>
            <a:r>
              <a:rPr lang="zh-TW" altLang="en-US" dirty="0"/>
              <a:t> </a:t>
            </a:r>
            <a:r>
              <a:rPr lang="en-TW" dirty="0"/>
              <a:t>8992493</a:t>
            </a:r>
            <a:endParaRPr dirty="0"/>
          </a:p>
        </p:txBody>
      </p:sp>
      <p:sp>
        <p:nvSpPr>
          <p:cNvPr id="239" name="Google Shape;239;p42"/>
          <p:cNvSpPr/>
          <p:nvPr/>
        </p:nvSpPr>
        <p:spPr>
          <a:xfrm>
            <a:off x="8548675" y="3328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42"/>
          <p:cNvCxnSpPr/>
          <p:nvPr/>
        </p:nvCxnSpPr>
        <p:spPr>
          <a:xfrm>
            <a:off x="780087" y="3529013"/>
            <a:ext cx="3999000" cy="0"/>
          </a:xfrm>
          <a:prstGeom prst="straightConnector1">
            <a:avLst/>
          </a:prstGeom>
          <a:noFill/>
          <a:ln w="19050" cap="flat" cmpd="sng">
            <a:solidFill>
              <a:schemeClr val="accent1"/>
            </a:solidFill>
            <a:prstDash val="solid"/>
            <a:round/>
            <a:headEnd type="none" w="med" len="med"/>
            <a:tailEnd type="none" w="med" len="med"/>
          </a:ln>
        </p:spPr>
      </p:cxnSp>
      <p:grpSp>
        <p:nvGrpSpPr>
          <p:cNvPr id="242" name="Google Shape;242;p42"/>
          <p:cNvGrpSpPr/>
          <p:nvPr/>
        </p:nvGrpSpPr>
        <p:grpSpPr>
          <a:xfrm>
            <a:off x="781611" y="713513"/>
            <a:ext cx="3995951" cy="564600"/>
            <a:chOff x="1524913" y="922950"/>
            <a:chExt cx="6094175" cy="564600"/>
          </a:xfrm>
        </p:grpSpPr>
        <p:cxnSp>
          <p:nvCxnSpPr>
            <p:cNvPr id="243" name="Google Shape;243;p42"/>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244" name="Google Shape;244;p42"/>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
        <p:nvSpPr>
          <p:cNvPr id="4" name="Google Shape;238;p42">
            <a:extLst>
              <a:ext uri="{FF2B5EF4-FFF2-40B4-BE49-F238E27FC236}">
                <a16:creationId xmlns:a16="http://schemas.microsoft.com/office/drawing/2014/main" id="{8FCA5A5C-0913-7421-402B-2BF693BB9CA9}"/>
              </a:ext>
            </a:extLst>
          </p:cNvPr>
          <p:cNvSpPr txBox="1">
            <a:spLocks/>
          </p:cNvSpPr>
          <p:nvPr/>
        </p:nvSpPr>
        <p:spPr>
          <a:xfrm>
            <a:off x="487671" y="3052819"/>
            <a:ext cx="4776266" cy="3826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Exo"/>
              <a:buNone/>
              <a:defRPr sz="1600" b="0" i="0" u="none" strike="noStrike" cap="none">
                <a:solidFill>
                  <a:schemeClr val="dk1"/>
                </a:solidFill>
                <a:latin typeface="Exo"/>
                <a:ea typeface="Exo"/>
                <a:cs typeface="Exo"/>
                <a:sym typeface="Exo"/>
              </a:defRPr>
            </a:lvl1pPr>
            <a:lvl2pPr marL="914400" marR="0" lvl="1"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2pPr>
            <a:lvl3pPr marL="1371600" marR="0" lvl="2"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3pPr>
            <a:lvl4pPr marL="1828800" marR="0" lvl="3"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4pPr>
            <a:lvl5pPr marL="2286000" marR="0" lvl="4"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5pPr>
            <a:lvl6pPr marL="2743200" marR="0" lvl="5"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6pPr>
            <a:lvl7pPr marL="3200400" marR="0" lvl="6"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7pPr>
            <a:lvl8pPr marL="3657600" marR="0" lvl="7"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8pPr>
            <a:lvl9pPr marL="4114800" marR="0" lvl="8"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9pPr>
          </a:lstStyle>
          <a:p>
            <a:pPr marL="0" indent="0"/>
            <a:r>
              <a:rPr lang="en-US" dirty="0"/>
              <a:t>An Analysis of Doctor and Nurse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54"/>
          <p:cNvPicPr preferRelativeResize="0"/>
          <p:nvPr/>
        </p:nvPicPr>
        <p:blipFill rotWithShape="1">
          <a:blip r:embed="rId3">
            <a:alphaModFix/>
          </a:blip>
          <a:srcRect l="42259" t="36966" r="23813" b="23022"/>
          <a:stretch/>
        </p:blipFill>
        <p:spPr>
          <a:xfrm>
            <a:off x="5313540" y="3368650"/>
            <a:ext cx="1433650" cy="1690800"/>
          </a:xfrm>
          <a:prstGeom prst="rect">
            <a:avLst/>
          </a:prstGeom>
          <a:noFill/>
          <a:ln>
            <a:noFill/>
          </a:ln>
        </p:spPr>
      </p:pic>
      <p:pic>
        <p:nvPicPr>
          <p:cNvPr id="473" name="Google Shape;473;p54"/>
          <p:cNvPicPr preferRelativeResize="0"/>
          <p:nvPr/>
        </p:nvPicPr>
        <p:blipFill rotWithShape="1">
          <a:blip r:embed="rId3">
            <a:alphaModFix/>
          </a:blip>
          <a:srcRect l="10117" t="20845" r="55955" b="39142"/>
          <a:stretch/>
        </p:blipFill>
        <p:spPr>
          <a:xfrm rot="-5400000">
            <a:off x="1213765" y="3149225"/>
            <a:ext cx="1433650" cy="1690800"/>
          </a:xfrm>
          <a:prstGeom prst="rect">
            <a:avLst/>
          </a:prstGeom>
          <a:noFill/>
          <a:ln>
            <a:noFill/>
          </a:ln>
        </p:spPr>
      </p:pic>
      <p:sp>
        <p:nvSpPr>
          <p:cNvPr id="474" name="Google Shape;474;p54"/>
          <p:cNvSpPr/>
          <p:nvPr/>
        </p:nvSpPr>
        <p:spPr>
          <a:xfrm>
            <a:off x="1755803" y="1817900"/>
            <a:ext cx="1969200" cy="16908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Dataset</a:t>
            </a:r>
            <a:r>
              <a:rPr lang="zh-TW" altLang="en-US" dirty="0"/>
              <a:t> </a:t>
            </a:r>
            <a:r>
              <a:rPr lang="en-US" dirty="0"/>
              <a:t>Summary</a:t>
            </a:r>
            <a:endParaRPr dirty="0"/>
          </a:p>
        </p:txBody>
      </p:sp>
      <p:sp>
        <p:nvSpPr>
          <p:cNvPr id="476" name="Google Shape;476;p54"/>
          <p:cNvSpPr txBox="1"/>
          <p:nvPr/>
        </p:nvSpPr>
        <p:spPr>
          <a:xfrm>
            <a:off x="1953653" y="2055000"/>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2000" b="1" dirty="0">
                <a:solidFill>
                  <a:schemeClr val="dk1"/>
                </a:solidFill>
                <a:latin typeface="Sora"/>
                <a:ea typeface="Sora"/>
                <a:cs typeface="Sora"/>
                <a:sym typeface="Sora"/>
              </a:rPr>
              <a:t>194</a:t>
            </a:r>
            <a:endParaRPr sz="2000" b="1" dirty="0">
              <a:solidFill>
                <a:schemeClr val="dk1"/>
              </a:solidFill>
              <a:latin typeface="Sora"/>
              <a:ea typeface="Sora"/>
              <a:cs typeface="Sora"/>
              <a:sym typeface="Sora"/>
            </a:endParaRPr>
          </a:p>
        </p:txBody>
      </p:sp>
      <p:sp>
        <p:nvSpPr>
          <p:cNvPr id="477" name="Google Shape;477;p54"/>
          <p:cNvSpPr txBox="1"/>
          <p:nvPr/>
        </p:nvSpPr>
        <p:spPr>
          <a:xfrm>
            <a:off x="1755803" y="2446500"/>
            <a:ext cx="196920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dk1"/>
                </a:solidFill>
                <a:latin typeface="Exo"/>
                <a:ea typeface="Exo"/>
                <a:cs typeface="Exo"/>
                <a:sym typeface="Exo"/>
              </a:rPr>
              <a:t>The total number of countrie</a:t>
            </a:r>
            <a:r>
              <a:rPr lang="en-US" altLang="zh-TW" dirty="0">
                <a:solidFill>
                  <a:schemeClr val="dk1"/>
                </a:solidFill>
                <a:latin typeface="Exo"/>
                <a:ea typeface="Exo"/>
                <a:cs typeface="Exo"/>
                <a:sym typeface="Exo"/>
              </a:rPr>
              <a:t>s</a:t>
            </a:r>
            <a:endParaRPr dirty="0">
              <a:solidFill>
                <a:schemeClr val="dk1"/>
              </a:solidFill>
              <a:latin typeface="Exo"/>
              <a:ea typeface="Exo"/>
              <a:cs typeface="Exo"/>
              <a:sym typeface="Exo"/>
            </a:endParaRPr>
          </a:p>
        </p:txBody>
      </p:sp>
      <p:sp>
        <p:nvSpPr>
          <p:cNvPr id="478" name="Google Shape;478;p54"/>
          <p:cNvSpPr/>
          <p:nvPr/>
        </p:nvSpPr>
        <p:spPr>
          <a:xfrm>
            <a:off x="3239753" y="3335275"/>
            <a:ext cx="1969200" cy="15741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4"/>
          <p:cNvSpPr txBox="1"/>
          <p:nvPr/>
        </p:nvSpPr>
        <p:spPr>
          <a:xfrm>
            <a:off x="3464740" y="3553125"/>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2000" b="1" dirty="0">
                <a:solidFill>
                  <a:schemeClr val="dk1"/>
                </a:solidFill>
                <a:latin typeface="Sora"/>
                <a:ea typeface="Sora"/>
                <a:cs typeface="Sora"/>
                <a:sym typeface="Sora"/>
              </a:rPr>
              <a:t>Africa</a:t>
            </a:r>
            <a:endParaRPr sz="2000" b="1" dirty="0">
              <a:solidFill>
                <a:schemeClr val="dk1"/>
              </a:solidFill>
              <a:latin typeface="Sora"/>
              <a:ea typeface="Sora"/>
              <a:cs typeface="Sora"/>
              <a:sym typeface="Sora"/>
            </a:endParaRPr>
          </a:p>
        </p:txBody>
      </p:sp>
      <p:sp>
        <p:nvSpPr>
          <p:cNvPr id="480" name="Google Shape;480;p54"/>
          <p:cNvSpPr txBox="1"/>
          <p:nvPr/>
        </p:nvSpPr>
        <p:spPr>
          <a:xfrm>
            <a:off x="3266890" y="4042771"/>
            <a:ext cx="1969200" cy="83096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tLang="zh-TW" dirty="0">
                <a:solidFill>
                  <a:schemeClr val="dk1"/>
                </a:solidFill>
                <a:latin typeface="Exo"/>
                <a:ea typeface="Exo"/>
                <a:cs typeface="Exo"/>
                <a:sym typeface="Exo"/>
              </a:rPr>
              <a:t>The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parent</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location</a:t>
            </a:r>
            <a:r>
              <a:rPr lang="zh-TW" altLang="en-US" dirty="0">
                <a:solidFill>
                  <a:schemeClr val="dk1"/>
                </a:solidFill>
                <a:latin typeface="Exo"/>
                <a:ea typeface="Exo"/>
                <a:cs typeface="Exo"/>
                <a:sym typeface="Exo"/>
              </a:rPr>
              <a:t> </a:t>
            </a:r>
            <a:r>
              <a:rPr lang="en-US" dirty="0">
                <a:solidFill>
                  <a:schemeClr val="dk1"/>
                </a:solidFill>
                <a:latin typeface="Exo"/>
                <a:ea typeface="Exo"/>
                <a:cs typeface="Exo"/>
                <a:sym typeface="Exo"/>
              </a:rPr>
              <a:t>has the highest nurse-to-doctor ratio</a:t>
            </a:r>
            <a:endParaRPr dirty="0">
              <a:solidFill>
                <a:schemeClr val="dk1"/>
              </a:solidFill>
              <a:latin typeface="Exo"/>
              <a:ea typeface="Exo"/>
              <a:cs typeface="Exo"/>
              <a:sym typeface="Exo"/>
            </a:endParaRPr>
          </a:p>
        </p:txBody>
      </p:sp>
      <p:sp>
        <p:nvSpPr>
          <p:cNvPr id="481" name="Google Shape;481;p54"/>
          <p:cNvSpPr/>
          <p:nvPr/>
        </p:nvSpPr>
        <p:spPr>
          <a:xfrm>
            <a:off x="4777977" y="1862326"/>
            <a:ext cx="3225381" cy="16908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4"/>
          <p:cNvSpPr txBox="1"/>
          <p:nvPr/>
        </p:nvSpPr>
        <p:spPr>
          <a:xfrm>
            <a:off x="4975828" y="2171825"/>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2000" b="1" dirty="0">
                <a:solidFill>
                  <a:schemeClr val="dk1"/>
                </a:solidFill>
                <a:latin typeface="Sora"/>
                <a:ea typeface="Sora"/>
                <a:cs typeface="Sora"/>
                <a:sym typeface="Sora"/>
              </a:rPr>
              <a:t>3.75</a:t>
            </a:r>
            <a:endParaRPr sz="2000" b="1" dirty="0">
              <a:solidFill>
                <a:schemeClr val="dk1"/>
              </a:solidFill>
              <a:latin typeface="Sora"/>
              <a:ea typeface="Sora"/>
              <a:cs typeface="Sora"/>
              <a:sym typeface="Sora"/>
            </a:endParaRPr>
          </a:p>
        </p:txBody>
      </p:sp>
      <p:sp>
        <p:nvSpPr>
          <p:cNvPr id="483" name="Google Shape;483;p54"/>
          <p:cNvSpPr txBox="1"/>
          <p:nvPr/>
        </p:nvSpPr>
        <p:spPr>
          <a:xfrm>
            <a:off x="4896964" y="2740839"/>
            <a:ext cx="298971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dk1"/>
                </a:solidFill>
                <a:latin typeface="Exo"/>
                <a:ea typeface="Exo"/>
                <a:cs typeface="Exo"/>
                <a:sym typeface="Exo"/>
              </a:rPr>
              <a:t>Average Workforce Density </a:t>
            </a:r>
          </a:p>
          <a:p>
            <a:pPr marL="0" lvl="0" indent="0" algn="ctr" rtl="0">
              <a:spcBef>
                <a:spcPts val="0"/>
              </a:spcBef>
              <a:spcAft>
                <a:spcPts val="0"/>
              </a:spcAft>
              <a:buNone/>
            </a:pPr>
            <a:r>
              <a:rPr lang="en-US" dirty="0">
                <a:solidFill>
                  <a:schemeClr val="dk1"/>
                </a:solidFill>
                <a:latin typeface="Exo"/>
                <a:ea typeface="Exo"/>
                <a:cs typeface="Exo"/>
                <a:sym typeface="Exo"/>
              </a:rPr>
              <a:t>(per 10,000 population)</a:t>
            </a:r>
            <a:endParaRPr dirty="0">
              <a:solidFill>
                <a:schemeClr val="dk1"/>
              </a:solidFill>
              <a:latin typeface="Exo"/>
              <a:ea typeface="Exo"/>
              <a:cs typeface="Exo"/>
              <a:sym typeface="Exo"/>
            </a:endParaRPr>
          </a:p>
        </p:txBody>
      </p:sp>
      <p:sp>
        <p:nvSpPr>
          <p:cNvPr id="2" name="Google Shape;505;p56">
            <a:extLst>
              <a:ext uri="{FF2B5EF4-FFF2-40B4-BE49-F238E27FC236}">
                <a16:creationId xmlns:a16="http://schemas.microsoft.com/office/drawing/2014/main" id="{19E720F9-A25A-2C2C-D492-708574624A56}"/>
              </a:ext>
            </a:extLst>
          </p:cNvPr>
          <p:cNvSpPr txBox="1">
            <a:spLocks/>
          </p:cNvSpPr>
          <p:nvPr/>
        </p:nvSpPr>
        <p:spPr>
          <a:xfrm>
            <a:off x="937596" y="1040874"/>
            <a:ext cx="7848186"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This report pr</a:t>
            </a:r>
            <a:r>
              <a:rPr lang="en-US" altLang="zh-TW" dirty="0"/>
              <a:t>esents</a:t>
            </a:r>
            <a:r>
              <a:rPr lang="en-US" dirty="0"/>
              <a:t> a concise analysis of the global distribution and imbalance of doctors and nurses from </a:t>
            </a:r>
            <a:r>
              <a:rPr lang="en-US" dirty="0">
                <a:solidFill>
                  <a:srgbClr val="F01E44"/>
                </a:solidFill>
              </a:rPr>
              <a:t>19</a:t>
            </a:r>
            <a:r>
              <a:rPr lang="en-US" altLang="zh-TW" dirty="0">
                <a:solidFill>
                  <a:srgbClr val="F01E44"/>
                </a:solidFill>
              </a:rPr>
              <a:t>6</a:t>
            </a:r>
            <a:r>
              <a:rPr lang="en-US" dirty="0">
                <a:solidFill>
                  <a:srgbClr val="F01E44"/>
                </a:solidFill>
              </a:rPr>
              <a:t>0 to 2023</a:t>
            </a:r>
            <a:r>
              <a:rPr lang="en-US" dirty="0"/>
              <a:t>, based on WHO Global Health Observatory data.</a:t>
            </a:r>
          </a:p>
        </p:txBody>
      </p:sp>
      <p:sp>
        <p:nvSpPr>
          <p:cNvPr id="4" name="Google Shape;482;p54">
            <a:extLst>
              <a:ext uri="{FF2B5EF4-FFF2-40B4-BE49-F238E27FC236}">
                <a16:creationId xmlns:a16="http://schemas.microsoft.com/office/drawing/2014/main" id="{A76ACB26-3A9D-8301-8B2B-04476253C12B}"/>
              </a:ext>
            </a:extLst>
          </p:cNvPr>
          <p:cNvSpPr txBox="1"/>
          <p:nvPr/>
        </p:nvSpPr>
        <p:spPr>
          <a:xfrm>
            <a:off x="5350024" y="2498287"/>
            <a:ext cx="825108"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1200" dirty="0">
                <a:solidFill>
                  <a:schemeClr val="dk1"/>
                </a:solidFill>
                <a:latin typeface="Sora"/>
                <a:ea typeface="Sora"/>
                <a:cs typeface="Sora"/>
                <a:sym typeface="Sora"/>
              </a:rPr>
              <a:t>Doctors</a:t>
            </a:r>
            <a:endParaRPr sz="1200" dirty="0">
              <a:solidFill>
                <a:schemeClr val="dk1"/>
              </a:solidFill>
              <a:latin typeface="Sora"/>
              <a:ea typeface="Sora"/>
              <a:cs typeface="Sora"/>
              <a:sym typeface="Sora"/>
            </a:endParaRPr>
          </a:p>
        </p:txBody>
      </p:sp>
      <p:sp>
        <p:nvSpPr>
          <p:cNvPr id="5" name="Google Shape;482;p54">
            <a:extLst>
              <a:ext uri="{FF2B5EF4-FFF2-40B4-BE49-F238E27FC236}">
                <a16:creationId xmlns:a16="http://schemas.microsoft.com/office/drawing/2014/main" id="{2F5CDAAF-3D2E-5B4E-34AA-BB82B755A6F6}"/>
              </a:ext>
            </a:extLst>
          </p:cNvPr>
          <p:cNvSpPr txBox="1"/>
          <p:nvPr/>
        </p:nvSpPr>
        <p:spPr>
          <a:xfrm>
            <a:off x="6334625" y="2171825"/>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2000" b="1" dirty="0">
                <a:solidFill>
                  <a:schemeClr val="dk1"/>
                </a:solidFill>
                <a:latin typeface="Sora"/>
                <a:ea typeface="Sora"/>
                <a:cs typeface="Sora"/>
                <a:sym typeface="Sora"/>
              </a:rPr>
              <a:t>8.95</a:t>
            </a:r>
            <a:endParaRPr sz="2000" b="1" dirty="0">
              <a:solidFill>
                <a:schemeClr val="dk1"/>
              </a:solidFill>
              <a:latin typeface="Sora"/>
              <a:ea typeface="Sora"/>
              <a:cs typeface="Sora"/>
              <a:sym typeface="Sora"/>
            </a:endParaRPr>
          </a:p>
        </p:txBody>
      </p:sp>
      <p:sp>
        <p:nvSpPr>
          <p:cNvPr id="6" name="Google Shape;482;p54">
            <a:extLst>
              <a:ext uri="{FF2B5EF4-FFF2-40B4-BE49-F238E27FC236}">
                <a16:creationId xmlns:a16="http://schemas.microsoft.com/office/drawing/2014/main" id="{BC522430-0DD3-9C4C-325E-D1583195F7CE}"/>
              </a:ext>
            </a:extLst>
          </p:cNvPr>
          <p:cNvSpPr txBox="1"/>
          <p:nvPr/>
        </p:nvSpPr>
        <p:spPr>
          <a:xfrm>
            <a:off x="6708821" y="2498287"/>
            <a:ext cx="825108"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1200" dirty="0">
                <a:solidFill>
                  <a:schemeClr val="dk1"/>
                </a:solidFill>
                <a:latin typeface="Sora"/>
                <a:ea typeface="Sora"/>
                <a:cs typeface="Sora"/>
                <a:sym typeface="Sora"/>
              </a:rPr>
              <a:t>Nurses</a:t>
            </a:r>
            <a:endParaRPr sz="1200" dirty="0">
              <a:solidFill>
                <a:schemeClr val="dk1"/>
              </a:solidFill>
              <a:latin typeface="Sora"/>
              <a:ea typeface="Sora"/>
              <a:cs typeface="Sora"/>
              <a:sym typeface="Sora"/>
            </a:endParaRPr>
          </a:p>
        </p:txBody>
      </p:sp>
      <p:sp>
        <p:nvSpPr>
          <p:cNvPr id="7" name="Google Shape;482;p54">
            <a:extLst>
              <a:ext uri="{FF2B5EF4-FFF2-40B4-BE49-F238E27FC236}">
                <a16:creationId xmlns:a16="http://schemas.microsoft.com/office/drawing/2014/main" id="{2BD20CAA-46BB-DCAD-879C-780DF2BFDBEA}"/>
              </a:ext>
            </a:extLst>
          </p:cNvPr>
          <p:cNvSpPr txBox="1"/>
          <p:nvPr/>
        </p:nvSpPr>
        <p:spPr>
          <a:xfrm>
            <a:off x="3838936" y="3847780"/>
            <a:ext cx="825108"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1200" dirty="0">
                <a:solidFill>
                  <a:schemeClr val="dk1"/>
                </a:solidFill>
                <a:latin typeface="Sora"/>
                <a:ea typeface="Sora"/>
                <a:cs typeface="Sora"/>
                <a:sym typeface="Sora"/>
              </a:rPr>
              <a:t>7.25</a:t>
            </a:r>
            <a:endParaRPr sz="1200" dirty="0">
              <a:solidFill>
                <a:schemeClr val="dk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57"/>
          <p:cNvPicPr preferRelativeResize="0"/>
          <p:nvPr/>
        </p:nvPicPr>
        <p:blipFill rotWithShape="1">
          <a:blip r:embed="rId3">
            <a:alphaModFix/>
          </a:blip>
          <a:srcRect l="60513" t="15763" r="16584" b="61860"/>
          <a:stretch/>
        </p:blipFill>
        <p:spPr>
          <a:xfrm flipH="1">
            <a:off x="1685550" y="1237300"/>
            <a:ext cx="1170100" cy="1143236"/>
          </a:xfrm>
          <a:prstGeom prst="rect">
            <a:avLst/>
          </a:prstGeom>
          <a:noFill/>
          <a:ln>
            <a:noFill/>
          </a:ln>
        </p:spPr>
      </p:pic>
      <p:sp>
        <p:nvSpPr>
          <p:cNvPr id="606" name="Google Shape;606;p57"/>
          <p:cNvSpPr/>
          <p:nvPr/>
        </p:nvSpPr>
        <p:spPr>
          <a:xfrm>
            <a:off x="3340685" y="3698500"/>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Analysis</a:t>
            </a:r>
            <a:r>
              <a:rPr lang="zh-TW" altLang="en-US" dirty="0"/>
              <a:t> </a:t>
            </a:r>
            <a:r>
              <a:rPr lang="en-US" altLang="zh-TW" dirty="0"/>
              <a:t>Approach</a:t>
            </a:r>
            <a:endParaRPr dirty="0"/>
          </a:p>
        </p:txBody>
      </p:sp>
      <p:sp>
        <p:nvSpPr>
          <p:cNvPr id="608" name="Google Shape;608;p57"/>
          <p:cNvSpPr/>
          <p:nvPr/>
        </p:nvSpPr>
        <p:spPr>
          <a:xfrm>
            <a:off x="3779782" y="3124671"/>
            <a:ext cx="674305" cy="700936"/>
          </a:xfrm>
          <a:custGeom>
            <a:avLst/>
            <a:gdLst/>
            <a:ahLst/>
            <a:cxnLst/>
            <a:rect l="l" t="t" r="r" b="b"/>
            <a:pathLst>
              <a:path w="38411" h="39928" extrusionOk="0">
                <a:moveTo>
                  <a:pt x="28811" y="1"/>
                </a:moveTo>
                <a:cubicBezTo>
                  <a:pt x="28510" y="1"/>
                  <a:pt x="28192" y="334"/>
                  <a:pt x="28373" y="695"/>
                </a:cubicBezTo>
                <a:cubicBezTo>
                  <a:pt x="30445" y="4791"/>
                  <a:pt x="34267" y="7780"/>
                  <a:pt x="36005" y="12078"/>
                </a:cubicBezTo>
                <a:cubicBezTo>
                  <a:pt x="37505" y="15792"/>
                  <a:pt x="36934" y="20150"/>
                  <a:pt x="34636" y="23424"/>
                </a:cubicBezTo>
                <a:cubicBezTo>
                  <a:pt x="34148" y="24115"/>
                  <a:pt x="33576" y="24770"/>
                  <a:pt x="32921" y="25329"/>
                </a:cubicBezTo>
                <a:cubicBezTo>
                  <a:pt x="32838" y="25401"/>
                  <a:pt x="32743" y="25484"/>
                  <a:pt x="32647" y="25556"/>
                </a:cubicBezTo>
                <a:cubicBezTo>
                  <a:pt x="32629" y="25574"/>
                  <a:pt x="32532" y="25649"/>
                  <a:pt x="32528" y="25649"/>
                </a:cubicBezTo>
                <a:cubicBezTo>
                  <a:pt x="32527" y="25649"/>
                  <a:pt x="32533" y="25643"/>
                  <a:pt x="32552" y="25627"/>
                </a:cubicBezTo>
                <a:lnTo>
                  <a:pt x="32552" y="25627"/>
                </a:lnTo>
                <a:cubicBezTo>
                  <a:pt x="32493" y="25675"/>
                  <a:pt x="32421" y="25734"/>
                  <a:pt x="32362" y="25782"/>
                </a:cubicBezTo>
                <a:cubicBezTo>
                  <a:pt x="32124" y="25960"/>
                  <a:pt x="31874" y="26127"/>
                  <a:pt x="31612" y="26294"/>
                </a:cubicBezTo>
                <a:cubicBezTo>
                  <a:pt x="30361" y="27115"/>
                  <a:pt x="29016" y="27818"/>
                  <a:pt x="27671" y="28484"/>
                </a:cubicBezTo>
                <a:cubicBezTo>
                  <a:pt x="23944" y="30306"/>
                  <a:pt x="20051" y="31830"/>
                  <a:pt x="16169" y="33318"/>
                </a:cubicBezTo>
                <a:cubicBezTo>
                  <a:pt x="11538" y="35092"/>
                  <a:pt x="6859" y="36759"/>
                  <a:pt x="2167" y="38414"/>
                </a:cubicBezTo>
                <a:cubicBezTo>
                  <a:pt x="1560" y="38629"/>
                  <a:pt x="965" y="38843"/>
                  <a:pt x="370" y="39069"/>
                </a:cubicBezTo>
                <a:cubicBezTo>
                  <a:pt x="155" y="39152"/>
                  <a:pt x="1" y="39367"/>
                  <a:pt x="72" y="39605"/>
                </a:cubicBezTo>
                <a:cubicBezTo>
                  <a:pt x="122" y="39796"/>
                  <a:pt x="309" y="39928"/>
                  <a:pt x="502" y="39928"/>
                </a:cubicBezTo>
                <a:cubicBezTo>
                  <a:pt x="537" y="39928"/>
                  <a:pt x="573" y="39924"/>
                  <a:pt x="608" y="39914"/>
                </a:cubicBezTo>
                <a:cubicBezTo>
                  <a:pt x="1846" y="39522"/>
                  <a:pt x="3072" y="39069"/>
                  <a:pt x="4299" y="38640"/>
                </a:cubicBezTo>
                <a:cubicBezTo>
                  <a:pt x="5501" y="38224"/>
                  <a:pt x="6704" y="37795"/>
                  <a:pt x="7906" y="37366"/>
                </a:cubicBezTo>
                <a:cubicBezTo>
                  <a:pt x="10288" y="36521"/>
                  <a:pt x="12669" y="35664"/>
                  <a:pt x="15026" y="34783"/>
                </a:cubicBezTo>
                <a:cubicBezTo>
                  <a:pt x="19146" y="33247"/>
                  <a:pt x="23242" y="31640"/>
                  <a:pt x="27206" y="29758"/>
                </a:cubicBezTo>
                <a:cubicBezTo>
                  <a:pt x="28671" y="29068"/>
                  <a:pt x="30123" y="28330"/>
                  <a:pt x="31493" y="27484"/>
                </a:cubicBezTo>
                <a:cubicBezTo>
                  <a:pt x="32647" y="26770"/>
                  <a:pt x="33731" y="25972"/>
                  <a:pt x="34612" y="24948"/>
                </a:cubicBezTo>
                <a:cubicBezTo>
                  <a:pt x="37327" y="21817"/>
                  <a:pt x="38410" y="17340"/>
                  <a:pt x="37362" y="13316"/>
                </a:cubicBezTo>
                <a:cubicBezTo>
                  <a:pt x="36196" y="8792"/>
                  <a:pt x="32493" y="5684"/>
                  <a:pt x="30088" y="1862"/>
                </a:cubicBezTo>
                <a:cubicBezTo>
                  <a:pt x="29754" y="1338"/>
                  <a:pt x="29445" y="791"/>
                  <a:pt x="29159" y="231"/>
                </a:cubicBezTo>
                <a:cubicBezTo>
                  <a:pt x="29078" y="68"/>
                  <a:pt x="28946" y="1"/>
                  <a:pt x="288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7"/>
          <p:cNvSpPr/>
          <p:nvPr/>
        </p:nvSpPr>
        <p:spPr>
          <a:xfrm>
            <a:off x="4592604" y="2849686"/>
            <a:ext cx="1475638" cy="412507"/>
          </a:xfrm>
          <a:custGeom>
            <a:avLst/>
            <a:gdLst/>
            <a:ahLst/>
            <a:cxnLst/>
            <a:rect l="l" t="t" r="r" b="b"/>
            <a:pathLst>
              <a:path w="84058" h="23498" extrusionOk="0">
                <a:moveTo>
                  <a:pt x="716" y="1"/>
                </a:moveTo>
                <a:cubicBezTo>
                  <a:pt x="0" y="1"/>
                  <a:pt x="7" y="1132"/>
                  <a:pt x="738" y="1156"/>
                </a:cubicBezTo>
                <a:cubicBezTo>
                  <a:pt x="6429" y="1287"/>
                  <a:pt x="12073" y="2490"/>
                  <a:pt x="17514" y="4109"/>
                </a:cubicBezTo>
                <a:cubicBezTo>
                  <a:pt x="22824" y="5680"/>
                  <a:pt x="27992" y="7704"/>
                  <a:pt x="33087" y="9836"/>
                </a:cubicBezTo>
                <a:cubicBezTo>
                  <a:pt x="38255" y="11991"/>
                  <a:pt x="43363" y="14265"/>
                  <a:pt x="48566" y="16325"/>
                </a:cubicBezTo>
                <a:cubicBezTo>
                  <a:pt x="53816" y="18408"/>
                  <a:pt x="59162" y="20277"/>
                  <a:pt x="64663" y="21599"/>
                </a:cubicBezTo>
                <a:cubicBezTo>
                  <a:pt x="69552" y="22773"/>
                  <a:pt x="74565" y="23498"/>
                  <a:pt x="79600" y="23498"/>
                </a:cubicBezTo>
                <a:cubicBezTo>
                  <a:pt x="80181" y="23498"/>
                  <a:pt x="80762" y="23488"/>
                  <a:pt x="81343" y="23468"/>
                </a:cubicBezTo>
                <a:cubicBezTo>
                  <a:pt x="82034" y="23445"/>
                  <a:pt x="82725" y="23409"/>
                  <a:pt x="83415" y="23361"/>
                </a:cubicBezTo>
                <a:cubicBezTo>
                  <a:pt x="84043" y="23315"/>
                  <a:pt x="84058" y="22359"/>
                  <a:pt x="83459" y="22359"/>
                </a:cubicBezTo>
                <a:cubicBezTo>
                  <a:pt x="83445" y="22359"/>
                  <a:pt x="83430" y="22360"/>
                  <a:pt x="83415" y="22361"/>
                </a:cubicBezTo>
                <a:cubicBezTo>
                  <a:pt x="82180" y="22453"/>
                  <a:pt x="80943" y="22497"/>
                  <a:pt x="79708" y="22497"/>
                </a:cubicBezTo>
                <a:cubicBezTo>
                  <a:pt x="75325" y="22497"/>
                  <a:pt x="70954" y="21944"/>
                  <a:pt x="66663" y="21016"/>
                </a:cubicBezTo>
                <a:cubicBezTo>
                  <a:pt x="61150" y="19813"/>
                  <a:pt x="55769" y="18015"/>
                  <a:pt x="50506" y="15967"/>
                </a:cubicBezTo>
                <a:cubicBezTo>
                  <a:pt x="45279" y="13943"/>
                  <a:pt x="40148" y="11657"/>
                  <a:pt x="34992" y="9467"/>
                </a:cubicBezTo>
                <a:cubicBezTo>
                  <a:pt x="29897" y="7312"/>
                  <a:pt x="24765" y="5228"/>
                  <a:pt x="19479" y="3549"/>
                </a:cubicBezTo>
                <a:cubicBezTo>
                  <a:pt x="14109" y="1847"/>
                  <a:pt x="8549" y="525"/>
                  <a:pt x="2917" y="108"/>
                </a:cubicBezTo>
                <a:cubicBezTo>
                  <a:pt x="2191" y="61"/>
                  <a:pt x="1464" y="25"/>
                  <a:pt x="738" y="1"/>
                </a:cubicBezTo>
                <a:cubicBezTo>
                  <a:pt x="731" y="1"/>
                  <a:pt x="723" y="1"/>
                  <a:pt x="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7"/>
          <p:cNvSpPr/>
          <p:nvPr/>
        </p:nvSpPr>
        <p:spPr>
          <a:xfrm>
            <a:off x="5109113" y="2346883"/>
            <a:ext cx="1170111" cy="577998"/>
          </a:xfrm>
          <a:custGeom>
            <a:avLst/>
            <a:gdLst/>
            <a:ahLst/>
            <a:cxnLst/>
            <a:rect l="l" t="t" r="r" b="b"/>
            <a:pathLst>
              <a:path w="66654" h="32925" extrusionOk="0">
                <a:moveTo>
                  <a:pt x="798" y="1"/>
                </a:moveTo>
                <a:cubicBezTo>
                  <a:pt x="372" y="1"/>
                  <a:pt x="1" y="537"/>
                  <a:pt x="401" y="891"/>
                </a:cubicBezTo>
                <a:cubicBezTo>
                  <a:pt x="3913" y="3974"/>
                  <a:pt x="7807" y="6606"/>
                  <a:pt x="11903" y="8844"/>
                </a:cubicBezTo>
                <a:cubicBezTo>
                  <a:pt x="15998" y="11094"/>
                  <a:pt x="20296" y="12976"/>
                  <a:pt x="24654" y="14678"/>
                </a:cubicBezTo>
                <a:cubicBezTo>
                  <a:pt x="29059" y="16405"/>
                  <a:pt x="33536" y="17952"/>
                  <a:pt x="38001" y="19524"/>
                </a:cubicBezTo>
                <a:cubicBezTo>
                  <a:pt x="42478" y="21108"/>
                  <a:pt x="46943" y="22703"/>
                  <a:pt x="51324" y="24537"/>
                </a:cubicBezTo>
                <a:cubicBezTo>
                  <a:pt x="53503" y="25441"/>
                  <a:pt x="55646" y="26406"/>
                  <a:pt x="57765" y="27454"/>
                </a:cubicBezTo>
                <a:cubicBezTo>
                  <a:pt x="60004" y="28561"/>
                  <a:pt x="62230" y="29787"/>
                  <a:pt x="64135" y="31430"/>
                </a:cubicBezTo>
                <a:cubicBezTo>
                  <a:pt x="64612" y="31847"/>
                  <a:pt x="65064" y="32287"/>
                  <a:pt x="65493" y="32752"/>
                </a:cubicBezTo>
                <a:cubicBezTo>
                  <a:pt x="65609" y="32874"/>
                  <a:pt x="65740" y="32925"/>
                  <a:pt x="65866" y="32925"/>
                </a:cubicBezTo>
                <a:cubicBezTo>
                  <a:pt x="66284" y="32925"/>
                  <a:pt x="66653" y="32368"/>
                  <a:pt x="66278" y="31966"/>
                </a:cubicBezTo>
                <a:cubicBezTo>
                  <a:pt x="64552" y="30097"/>
                  <a:pt x="62409" y="28656"/>
                  <a:pt x="60182" y="27442"/>
                </a:cubicBezTo>
                <a:cubicBezTo>
                  <a:pt x="58051" y="26275"/>
                  <a:pt x="55849" y="25263"/>
                  <a:pt x="53634" y="24298"/>
                </a:cubicBezTo>
                <a:cubicBezTo>
                  <a:pt x="49276" y="22405"/>
                  <a:pt x="44811" y="20762"/>
                  <a:pt x="40335" y="19179"/>
                </a:cubicBezTo>
                <a:cubicBezTo>
                  <a:pt x="35870" y="17607"/>
                  <a:pt x="31369" y="16083"/>
                  <a:pt x="26940" y="14404"/>
                </a:cubicBezTo>
                <a:cubicBezTo>
                  <a:pt x="22571" y="12761"/>
                  <a:pt x="18260" y="10975"/>
                  <a:pt x="14105" y="8832"/>
                </a:cubicBezTo>
                <a:cubicBezTo>
                  <a:pt x="9998" y="6713"/>
                  <a:pt x="6057" y="4248"/>
                  <a:pt x="2497" y="1284"/>
                </a:cubicBezTo>
                <a:cubicBezTo>
                  <a:pt x="2044" y="915"/>
                  <a:pt x="1592" y="534"/>
                  <a:pt x="1151" y="141"/>
                </a:cubicBezTo>
                <a:cubicBezTo>
                  <a:pt x="1040" y="42"/>
                  <a:pt x="917"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7"/>
          <p:cNvSpPr/>
          <p:nvPr/>
        </p:nvSpPr>
        <p:spPr>
          <a:xfrm>
            <a:off x="5302782" y="2003225"/>
            <a:ext cx="1170085" cy="124658"/>
          </a:xfrm>
          <a:custGeom>
            <a:avLst/>
            <a:gdLst/>
            <a:ahLst/>
            <a:cxnLst/>
            <a:rect l="l" t="t" r="r" b="b"/>
            <a:pathLst>
              <a:path w="77425" h="7100" extrusionOk="0">
                <a:moveTo>
                  <a:pt x="76869" y="0"/>
                </a:moveTo>
                <a:cubicBezTo>
                  <a:pt x="76811" y="0"/>
                  <a:pt x="76750" y="15"/>
                  <a:pt x="76689" y="49"/>
                </a:cubicBezTo>
                <a:cubicBezTo>
                  <a:pt x="72569" y="2299"/>
                  <a:pt x="68116" y="3835"/>
                  <a:pt x="63520" y="4787"/>
                </a:cubicBezTo>
                <a:cubicBezTo>
                  <a:pt x="58913" y="5752"/>
                  <a:pt x="54198" y="6121"/>
                  <a:pt x="49495" y="6145"/>
                </a:cubicBezTo>
                <a:cubicBezTo>
                  <a:pt x="49345" y="6145"/>
                  <a:pt x="49195" y="6146"/>
                  <a:pt x="49045" y="6146"/>
                </a:cubicBezTo>
                <a:cubicBezTo>
                  <a:pt x="44303" y="6146"/>
                  <a:pt x="39583" y="5784"/>
                  <a:pt x="34874" y="5287"/>
                </a:cubicBezTo>
                <a:cubicBezTo>
                  <a:pt x="29492" y="4716"/>
                  <a:pt x="24134" y="3990"/>
                  <a:pt x="18753" y="3442"/>
                </a:cubicBezTo>
                <a:cubicBezTo>
                  <a:pt x="14261" y="2990"/>
                  <a:pt x="9744" y="2656"/>
                  <a:pt x="5216" y="2656"/>
                </a:cubicBezTo>
                <a:cubicBezTo>
                  <a:pt x="4378" y="2656"/>
                  <a:pt x="3541" y="2668"/>
                  <a:pt x="2703" y="2692"/>
                </a:cubicBezTo>
                <a:cubicBezTo>
                  <a:pt x="2036" y="2716"/>
                  <a:pt x="1358" y="2739"/>
                  <a:pt x="691" y="2787"/>
                </a:cubicBezTo>
                <a:cubicBezTo>
                  <a:pt x="12" y="2834"/>
                  <a:pt x="1" y="3859"/>
                  <a:pt x="657" y="3859"/>
                </a:cubicBezTo>
                <a:cubicBezTo>
                  <a:pt x="668" y="3859"/>
                  <a:pt x="680" y="3859"/>
                  <a:pt x="691" y="3859"/>
                </a:cubicBezTo>
                <a:cubicBezTo>
                  <a:pt x="2240" y="3787"/>
                  <a:pt x="3788" y="3754"/>
                  <a:pt x="5334" y="3754"/>
                </a:cubicBezTo>
                <a:cubicBezTo>
                  <a:pt x="9194" y="3754"/>
                  <a:pt x="13044" y="3962"/>
                  <a:pt x="16895" y="4311"/>
                </a:cubicBezTo>
                <a:cubicBezTo>
                  <a:pt x="22301" y="4799"/>
                  <a:pt x="27682" y="5514"/>
                  <a:pt x="33088" y="6097"/>
                </a:cubicBezTo>
                <a:cubicBezTo>
                  <a:pt x="38053" y="6633"/>
                  <a:pt x="43030" y="7061"/>
                  <a:pt x="48042" y="7097"/>
                </a:cubicBezTo>
                <a:cubicBezTo>
                  <a:pt x="48284" y="7099"/>
                  <a:pt x="48526" y="7100"/>
                  <a:pt x="48768" y="7100"/>
                </a:cubicBezTo>
                <a:cubicBezTo>
                  <a:pt x="53278" y="7100"/>
                  <a:pt x="57794" y="6780"/>
                  <a:pt x="62234" y="5966"/>
                </a:cubicBezTo>
                <a:cubicBezTo>
                  <a:pt x="66830" y="5121"/>
                  <a:pt x="71366" y="3704"/>
                  <a:pt x="75522" y="1537"/>
                </a:cubicBezTo>
                <a:cubicBezTo>
                  <a:pt x="76046" y="1263"/>
                  <a:pt x="76558" y="977"/>
                  <a:pt x="77070" y="691"/>
                </a:cubicBezTo>
                <a:cubicBezTo>
                  <a:pt x="77425" y="489"/>
                  <a:pt x="77201" y="0"/>
                  <a:pt x="76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7"/>
          <p:cNvSpPr/>
          <p:nvPr/>
        </p:nvSpPr>
        <p:spPr>
          <a:xfrm>
            <a:off x="5726646" y="2080359"/>
            <a:ext cx="12131" cy="9427"/>
          </a:xfrm>
          <a:custGeom>
            <a:avLst/>
            <a:gdLst/>
            <a:ahLst/>
            <a:cxnLst/>
            <a:rect l="l" t="t" r="r" b="b"/>
            <a:pathLst>
              <a:path w="691" h="537" extrusionOk="0">
                <a:moveTo>
                  <a:pt x="346" y="0"/>
                </a:moveTo>
                <a:cubicBezTo>
                  <a:pt x="0" y="0"/>
                  <a:pt x="0" y="536"/>
                  <a:pt x="346" y="536"/>
                </a:cubicBezTo>
                <a:cubicBezTo>
                  <a:pt x="691" y="536"/>
                  <a:pt x="691" y="0"/>
                  <a:pt x="34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7"/>
          <p:cNvSpPr txBox="1"/>
          <p:nvPr/>
        </p:nvSpPr>
        <p:spPr>
          <a:xfrm>
            <a:off x="5513690" y="3401998"/>
            <a:ext cx="1485600" cy="429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sz="1600" b="1" dirty="0">
                <a:solidFill>
                  <a:schemeClr val="dk1"/>
                </a:solidFill>
                <a:latin typeface="Sora"/>
                <a:ea typeface="Sora"/>
                <a:cs typeface="Sora"/>
                <a:sym typeface="Sora"/>
              </a:rPr>
              <a:t>3.</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Deep</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dive</a:t>
            </a:r>
            <a:endParaRPr sz="1600" b="1" dirty="0">
              <a:solidFill>
                <a:schemeClr val="dk1"/>
              </a:solidFill>
              <a:latin typeface="Sora"/>
              <a:ea typeface="Sora"/>
              <a:cs typeface="Sora"/>
              <a:sym typeface="Sora"/>
            </a:endParaRPr>
          </a:p>
        </p:txBody>
      </p:sp>
      <p:sp>
        <p:nvSpPr>
          <p:cNvPr id="614" name="Google Shape;614;p57"/>
          <p:cNvSpPr txBox="1"/>
          <p:nvPr/>
        </p:nvSpPr>
        <p:spPr>
          <a:xfrm>
            <a:off x="1717931" y="3724531"/>
            <a:ext cx="1485600" cy="429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sz="1600" b="1" dirty="0">
                <a:solidFill>
                  <a:schemeClr val="dk1"/>
                </a:solidFill>
                <a:latin typeface="Sora"/>
                <a:ea typeface="Sora"/>
                <a:cs typeface="Sora"/>
                <a:sym typeface="Sora"/>
              </a:rPr>
              <a:t>1.</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The</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problem</a:t>
            </a:r>
            <a:endParaRPr sz="1600" b="1" dirty="0">
              <a:solidFill>
                <a:schemeClr val="dk1"/>
              </a:solidFill>
              <a:latin typeface="Sora"/>
              <a:ea typeface="Sora"/>
              <a:cs typeface="Sora"/>
              <a:sym typeface="Sora"/>
            </a:endParaRPr>
          </a:p>
        </p:txBody>
      </p:sp>
      <p:sp>
        <p:nvSpPr>
          <p:cNvPr id="615" name="Google Shape;615;p57"/>
          <p:cNvSpPr txBox="1"/>
          <p:nvPr/>
        </p:nvSpPr>
        <p:spPr>
          <a:xfrm>
            <a:off x="2153488" y="2383269"/>
            <a:ext cx="1872831" cy="429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sz="1600" b="1" dirty="0">
                <a:solidFill>
                  <a:schemeClr val="dk1"/>
                </a:solidFill>
                <a:latin typeface="Sora"/>
                <a:ea typeface="Sora"/>
                <a:cs typeface="Sora"/>
                <a:sym typeface="Sora"/>
              </a:rPr>
              <a:t>2.</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Prep</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the</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data</a:t>
            </a:r>
            <a:endParaRPr sz="1600" b="1" dirty="0">
              <a:solidFill>
                <a:schemeClr val="dk1"/>
              </a:solidFill>
              <a:latin typeface="Sora"/>
              <a:ea typeface="Sora"/>
              <a:cs typeface="Sora"/>
              <a:sym typeface="Sora"/>
            </a:endParaRPr>
          </a:p>
        </p:txBody>
      </p:sp>
      <p:sp>
        <p:nvSpPr>
          <p:cNvPr id="616" name="Google Shape;616;p57"/>
          <p:cNvSpPr txBox="1"/>
          <p:nvPr/>
        </p:nvSpPr>
        <p:spPr>
          <a:xfrm>
            <a:off x="3358409" y="1420054"/>
            <a:ext cx="1485600" cy="429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sz="1600" b="1" dirty="0">
                <a:solidFill>
                  <a:schemeClr val="dk1"/>
                </a:solidFill>
                <a:latin typeface="Sora"/>
                <a:ea typeface="Sora"/>
                <a:cs typeface="Sora"/>
                <a:sym typeface="Sora"/>
              </a:rPr>
              <a:t>4.</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Insights</a:t>
            </a:r>
            <a:endParaRPr sz="1600" b="1" dirty="0">
              <a:solidFill>
                <a:schemeClr val="dk1"/>
              </a:solidFill>
              <a:latin typeface="Sora"/>
              <a:ea typeface="Sora"/>
              <a:cs typeface="Sora"/>
              <a:sym typeface="Sora"/>
            </a:endParaRPr>
          </a:p>
        </p:txBody>
      </p:sp>
      <p:grpSp>
        <p:nvGrpSpPr>
          <p:cNvPr id="618" name="Google Shape;618;p57"/>
          <p:cNvGrpSpPr/>
          <p:nvPr/>
        </p:nvGrpSpPr>
        <p:grpSpPr>
          <a:xfrm>
            <a:off x="6453550" y="1402826"/>
            <a:ext cx="687152" cy="686938"/>
            <a:chOff x="5642475" y="1435075"/>
            <a:chExt cx="481975" cy="481825"/>
          </a:xfrm>
        </p:grpSpPr>
        <p:sp>
          <p:nvSpPr>
            <p:cNvPr id="619" name="Google Shape;619;p57"/>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 name="Google Shape;620;p57"/>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 name="Google Shape;621;p57"/>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22" name="Google Shape;622;p57"/>
          <p:cNvSpPr/>
          <p:nvPr/>
        </p:nvSpPr>
        <p:spPr>
          <a:xfrm>
            <a:off x="3433904" y="3765617"/>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7"/>
          <p:cNvSpPr/>
          <p:nvPr/>
        </p:nvSpPr>
        <p:spPr>
          <a:xfrm>
            <a:off x="4168785" y="2737925"/>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7"/>
          <p:cNvSpPr/>
          <p:nvPr/>
        </p:nvSpPr>
        <p:spPr>
          <a:xfrm>
            <a:off x="4262004" y="2805042"/>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7"/>
          <p:cNvSpPr/>
          <p:nvPr/>
        </p:nvSpPr>
        <p:spPr>
          <a:xfrm>
            <a:off x="6170060" y="2992975"/>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7"/>
          <p:cNvSpPr/>
          <p:nvPr/>
        </p:nvSpPr>
        <p:spPr>
          <a:xfrm>
            <a:off x="6263279" y="3060092"/>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7"/>
          <p:cNvSpPr/>
          <p:nvPr/>
        </p:nvSpPr>
        <p:spPr>
          <a:xfrm>
            <a:off x="4909460" y="1957700"/>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7"/>
          <p:cNvSpPr/>
          <p:nvPr/>
        </p:nvSpPr>
        <p:spPr>
          <a:xfrm>
            <a:off x="5002679" y="2024817"/>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7"/>
          <p:cNvSpPr txBox="1"/>
          <p:nvPr/>
        </p:nvSpPr>
        <p:spPr>
          <a:xfrm>
            <a:off x="2078640" y="1731265"/>
            <a:ext cx="2765381"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dirty="0">
                <a:solidFill>
                  <a:schemeClr val="dk1"/>
                </a:solidFill>
                <a:latin typeface="Exo"/>
                <a:ea typeface="Exo"/>
                <a:cs typeface="Exo"/>
                <a:sym typeface="Exo"/>
              </a:rPr>
              <a:t>Results</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were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presented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in</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 dashboard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using</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Tableau</a:t>
            </a:r>
            <a:endParaRPr dirty="0">
              <a:solidFill>
                <a:schemeClr val="dk1"/>
              </a:solidFill>
              <a:latin typeface="Exo"/>
              <a:ea typeface="Exo"/>
              <a:cs typeface="Exo"/>
              <a:sym typeface="Exo"/>
            </a:endParaRPr>
          </a:p>
        </p:txBody>
      </p:sp>
      <p:sp>
        <p:nvSpPr>
          <p:cNvPr id="630" name="Google Shape;630;p57"/>
          <p:cNvSpPr txBox="1"/>
          <p:nvPr/>
        </p:nvSpPr>
        <p:spPr>
          <a:xfrm>
            <a:off x="720000" y="2757383"/>
            <a:ext cx="3307406"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dirty="0">
                <a:solidFill>
                  <a:schemeClr val="dk1"/>
                </a:solidFill>
                <a:latin typeface="Exo"/>
                <a:ea typeface="Exo"/>
                <a:cs typeface="Exo"/>
                <a:sym typeface="Exo"/>
              </a:rPr>
              <a:t>Download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the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two</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datasets,</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complete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data</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cleaning,</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and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exploratory</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data</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analysis</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using</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Python</a:t>
            </a:r>
            <a:endParaRPr dirty="0">
              <a:solidFill>
                <a:schemeClr val="dk1"/>
              </a:solidFill>
              <a:latin typeface="Exo"/>
              <a:ea typeface="Exo"/>
              <a:cs typeface="Exo"/>
              <a:sym typeface="Exo"/>
            </a:endParaRPr>
          </a:p>
        </p:txBody>
      </p:sp>
      <p:sp>
        <p:nvSpPr>
          <p:cNvPr id="631" name="Google Shape;631;p57"/>
          <p:cNvSpPr txBox="1"/>
          <p:nvPr/>
        </p:nvSpPr>
        <p:spPr>
          <a:xfrm>
            <a:off x="0" y="3908090"/>
            <a:ext cx="3214041" cy="880726"/>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dirty="0">
                <a:solidFill>
                  <a:schemeClr val="dk1"/>
                </a:solidFill>
                <a:latin typeface="Exo"/>
                <a:ea typeface="Exo"/>
                <a:cs typeface="Exo"/>
                <a:sym typeface="Exo"/>
              </a:rPr>
              <a:t>Have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good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understanding</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of</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the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problem</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Global</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Healthcare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Workforce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Imbalance”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based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on</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the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WHO</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data</a:t>
            </a:r>
            <a:endParaRPr dirty="0">
              <a:solidFill>
                <a:schemeClr val="dk1"/>
              </a:solidFill>
              <a:latin typeface="Exo"/>
              <a:ea typeface="Exo"/>
              <a:cs typeface="Exo"/>
              <a:sym typeface="Exo"/>
            </a:endParaRPr>
          </a:p>
        </p:txBody>
      </p:sp>
      <p:sp>
        <p:nvSpPr>
          <p:cNvPr id="632" name="Google Shape;632;p57"/>
          <p:cNvSpPr txBox="1"/>
          <p:nvPr/>
        </p:nvSpPr>
        <p:spPr>
          <a:xfrm>
            <a:off x="5788557" y="3807595"/>
            <a:ext cx="2989483" cy="4821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altLang="zh-TW" dirty="0">
                <a:solidFill>
                  <a:schemeClr val="dk1"/>
                </a:solidFill>
                <a:latin typeface="Exo"/>
                <a:ea typeface="Exo"/>
                <a:cs typeface="Exo"/>
                <a:sym typeface="Exo"/>
              </a:rPr>
              <a:t>analyzed global and regional healthcare workforce imbalances, focusing on doctor and nurse ratios.</a:t>
            </a:r>
            <a:endParaRPr dirty="0">
              <a:solidFill>
                <a:schemeClr val="dk1"/>
              </a:solidFill>
              <a:latin typeface="Exo"/>
              <a:ea typeface="Exo"/>
              <a:cs typeface="Exo"/>
              <a:sym typeface="Exo"/>
            </a:endParaRPr>
          </a:p>
        </p:txBody>
      </p:sp>
      <p:grpSp>
        <p:nvGrpSpPr>
          <p:cNvPr id="633" name="Google Shape;633;p57"/>
          <p:cNvGrpSpPr/>
          <p:nvPr/>
        </p:nvGrpSpPr>
        <p:grpSpPr>
          <a:xfrm rot="159">
            <a:off x="4641682" y="3724541"/>
            <a:ext cx="580430" cy="642309"/>
            <a:chOff x="-25445525" y="3175900"/>
            <a:chExt cx="267825" cy="296350"/>
          </a:xfrm>
        </p:grpSpPr>
        <p:sp>
          <p:nvSpPr>
            <p:cNvPr id="634" name="Google Shape;634;p57"/>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7"/>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7"/>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613;p57">
            <a:extLst>
              <a:ext uri="{FF2B5EF4-FFF2-40B4-BE49-F238E27FC236}">
                <a16:creationId xmlns:a16="http://schemas.microsoft.com/office/drawing/2014/main" id="{71562357-AB17-7A95-9709-ABF79FC52F32}"/>
              </a:ext>
            </a:extLst>
          </p:cNvPr>
          <p:cNvSpPr txBox="1"/>
          <p:nvPr/>
        </p:nvSpPr>
        <p:spPr>
          <a:xfrm>
            <a:off x="6153930" y="2027782"/>
            <a:ext cx="2270069" cy="429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altLang="zh-TW" sz="1600" b="1" dirty="0">
                <a:solidFill>
                  <a:schemeClr val="dk1"/>
                </a:solidFill>
                <a:latin typeface="Sora"/>
                <a:ea typeface="Sora"/>
                <a:cs typeface="Sora"/>
                <a:sym typeface="Sora"/>
              </a:rPr>
              <a:t>5.</a:t>
            </a:r>
            <a:r>
              <a:rPr lang="zh-TW" altLang="en-US" sz="1600" b="1" dirty="0">
                <a:solidFill>
                  <a:schemeClr val="dk1"/>
                </a:solidFill>
                <a:latin typeface="Sora"/>
                <a:ea typeface="Sora"/>
                <a:cs typeface="Sora"/>
                <a:sym typeface="Sora"/>
              </a:rPr>
              <a:t> </a:t>
            </a:r>
            <a:r>
              <a:rPr lang="en-US" altLang="zh-TW" sz="1600" b="1" dirty="0">
                <a:solidFill>
                  <a:schemeClr val="dk1"/>
                </a:solidFill>
                <a:latin typeface="Sora"/>
                <a:ea typeface="Sora"/>
                <a:cs typeface="Sora"/>
                <a:sym typeface="Sora"/>
              </a:rPr>
              <a:t>Recommendations</a:t>
            </a:r>
            <a:endParaRPr sz="1600" b="1" dirty="0">
              <a:solidFill>
                <a:schemeClr val="dk1"/>
              </a:solidFill>
              <a:latin typeface="Sora"/>
              <a:ea typeface="Sora"/>
              <a:cs typeface="Sora"/>
              <a:sym typeface="Sora"/>
            </a:endParaRPr>
          </a:p>
        </p:txBody>
      </p:sp>
      <p:sp>
        <p:nvSpPr>
          <p:cNvPr id="3" name="Google Shape;632;p57">
            <a:extLst>
              <a:ext uri="{FF2B5EF4-FFF2-40B4-BE49-F238E27FC236}">
                <a16:creationId xmlns:a16="http://schemas.microsoft.com/office/drawing/2014/main" id="{E4B5D616-AEA2-0741-15FE-2514856C512F}"/>
              </a:ext>
            </a:extLst>
          </p:cNvPr>
          <p:cNvSpPr txBox="1"/>
          <p:nvPr/>
        </p:nvSpPr>
        <p:spPr>
          <a:xfrm>
            <a:off x="6483395" y="2321867"/>
            <a:ext cx="2715202" cy="691292"/>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altLang="zh-TW" dirty="0">
                <a:solidFill>
                  <a:schemeClr val="dk1"/>
                </a:solidFill>
                <a:latin typeface="Exo"/>
                <a:ea typeface="Exo"/>
                <a:cs typeface="Exo"/>
                <a:sym typeface="Exo"/>
              </a:rPr>
              <a:t>Provided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recommendations</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based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on</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insights</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obtained</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from</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the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deep</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dive</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for</a:t>
            </a:r>
            <a:r>
              <a:rPr lang="zh-TW" altLang="en-US" dirty="0">
                <a:solidFill>
                  <a:schemeClr val="dk1"/>
                </a:solidFill>
                <a:latin typeface="Exo"/>
                <a:ea typeface="Exo"/>
                <a:cs typeface="Exo"/>
                <a:sym typeface="Exo"/>
              </a:rPr>
              <a:t> </a:t>
            </a:r>
            <a:r>
              <a:rPr lang="en-US" altLang="zh-TW" dirty="0">
                <a:solidFill>
                  <a:schemeClr val="dk1"/>
                </a:solidFill>
                <a:latin typeface="Exo"/>
                <a:ea typeface="Exo"/>
                <a:cs typeface="Exo"/>
                <a:sym typeface="Exo"/>
              </a:rPr>
              <a:t>implementation.</a:t>
            </a:r>
            <a:endParaRPr dirty="0">
              <a:solidFill>
                <a:schemeClr val="dk1"/>
              </a:solidFill>
              <a:latin typeface="Exo"/>
              <a:ea typeface="Exo"/>
              <a:cs typeface="Exo"/>
              <a:sym typeface="Ex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Key</a:t>
            </a:r>
            <a:r>
              <a:rPr lang="zh-TW" altLang="en-US" dirty="0"/>
              <a:t> </a:t>
            </a:r>
            <a:r>
              <a:rPr lang="en-US" altLang="zh-TW" dirty="0"/>
              <a:t>Insights</a:t>
            </a:r>
            <a:endParaRPr dirty="0"/>
          </a:p>
        </p:txBody>
      </p:sp>
      <p:sp>
        <p:nvSpPr>
          <p:cNvPr id="253" name="Google Shape;253;p43"/>
          <p:cNvSpPr txBox="1">
            <a:spLocks noGrp="1"/>
          </p:cNvSpPr>
          <p:nvPr>
            <p:ph type="body" idx="1"/>
          </p:nvPr>
        </p:nvSpPr>
        <p:spPr>
          <a:xfrm>
            <a:off x="499962" y="1046664"/>
            <a:ext cx="2964457" cy="3549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Regional Disparity in Nurse-to-Doctor Ratios</a:t>
            </a:r>
            <a:endParaRPr dirty="0"/>
          </a:p>
        </p:txBody>
      </p:sp>
      <p:pic>
        <p:nvPicPr>
          <p:cNvPr id="2" name="Picture 1" descr="A graph with numbers and a bar&#10;&#10;AI-generated content may be incorrect.">
            <a:extLst>
              <a:ext uri="{FF2B5EF4-FFF2-40B4-BE49-F238E27FC236}">
                <a16:creationId xmlns:a16="http://schemas.microsoft.com/office/drawing/2014/main" id="{4AAB5055-4C0D-2F79-587C-A92ECA70116F}"/>
              </a:ext>
            </a:extLst>
          </p:cNvPr>
          <p:cNvPicPr>
            <a:picLocks noChangeAspect="1"/>
          </p:cNvPicPr>
          <p:nvPr/>
        </p:nvPicPr>
        <p:blipFill>
          <a:blip r:embed="rId3"/>
          <a:stretch>
            <a:fillRect/>
          </a:stretch>
        </p:blipFill>
        <p:spPr>
          <a:xfrm>
            <a:off x="420765" y="1469309"/>
            <a:ext cx="6497210" cy="1233782"/>
          </a:xfrm>
          <a:prstGeom prst="rect">
            <a:avLst/>
          </a:prstGeom>
        </p:spPr>
      </p:pic>
      <p:pic>
        <p:nvPicPr>
          <p:cNvPr id="3" name="Picture 2" descr="A graph with lines and numbers&#10;&#10;AI-generated content may be incorrect.">
            <a:extLst>
              <a:ext uri="{FF2B5EF4-FFF2-40B4-BE49-F238E27FC236}">
                <a16:creationId xmlns:a16="http://schemas.microsoft.com/office/drawing/2014/main" id="{69AA52A6-ADFC-0FBE-EB11-AF89C3B5C138}"/>
              </a:ext>
            </a:extLst>
          </p:cNvPr>
          <p:cNvPicPr>
            <a:picLocks noChangeAspect="1"/>
          </p:cNvPicPr>
          <p:nvPr/>
        </p:nvPicPr>
        <p:blipFill rotWithShape="1">
          <a:blip r:embed="rId4"/>
          <a:srcRect r="13690"/>
          <a:stretch/>
        </p:blipFill>
        <p:spPr>
          <a:xfrm>
            <a:off x="720000" y="3047919"/>
            <a:ext cx="3101368" cy="1962530"/>
          </a:xfrm>
          <a:prstGeom prst="rect">
            <a:avLst/>
          </a:prstGeom>
        </p:spPr>
      </p:pic>
      <p:pic>
        <p:nvPicPr>
          <p:cNvPr id="4" name="Picture 3" descr="A graph with lines and numbers&#10;&#10;AI-generated content may be incorrect.">
            <a:extLst>
              <a:ext uri="{FF2B5EF4-FFF2-40B4-BE49-F238E27FC236}">
                <a16:creationId xmlns:a16="http://schemas.microsoft.com/office/drawing/2014/main" id="{794E67F6-20D3-7DAE-B0A6-E8F64C6CB3FA}"/>
              </a:ext>
            </a:extLst>
          </p:cNvPr>
          <p:cNvPicPr>
            <a:picLocks noChangeAspect="1"/>
          </p:cNvPicPr>
          <p:nvPr/>
        </p:nvPicPr>
        <p:blipFill rotWithShape="1">
          <a:blip r:embed="rId5"/>
          <a:srcRect r="14070"/>
          <a:stretch/>
        </p:blipFill>
        <p:spPr>
          <a:xfrm>
            <a:off x="5159836" y="3006450"/>
            <a:ext cx="3516277" cy="2045469"/>
          </a:xfrm>
          <a:prstGeom prst="rect">
            <a:avLst/>
          </a:prstGeom>
        </p:spPr>
      </p:pic>
      <p:sp>
        <p:nvSpPr>
          <p:cNvPr id="5" name="Google Shape;253;p43">
            <a:extLst>
              <a:ext uri="{FF2B5EF4-FFF2-40B4-BE49-F238E27FC236}">
                <a16:creationId xmlns:a16="http://schemas.microsoft.com/office/drawing/2014/main" id="{CE40E907-19C8-DB8E-33AE-6F30A2F3935D}"/>
              </a:ext>
            </a:extLst>
          </p:cNvPr>
          <p:cNvSpPr txBox="1">
            <a:spLocks/>
          </p:cNvSpPr>
          <p:nvPr/>
        </p:nvSpPr>
        <p:spPr>
          <a:xfrm>
            <a:off x="1919148" y="2703091"/>
            <a:ext cx="4289593" cy="5542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Exo"/>
              <a:buAutoNum type="arabicPeriod"/>
              <a:defRPr sz="1200" b="0" i="0" u="none" strike="noStrike" cap="none">
                <a:solidFill>
                  <a:srgbClr val="191919"/>
                </a:solidFill>
                <a:latin typeface="Exo"/>
                <a:ea typeface="Exo"/>
                <a:cs typeface="Exo"/>
                <a:sym typeface="Exo"/>
              </a:defRPr>
            </a:lvl1pPr>
            <a:lvl2pPr marL="914400" marR="0" lvl="1"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2pPr>
            <a:lvl3pPr marL="1371600" marR="0" lvl="2"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3pPr>
            <a:lvl4pPr marL="1828800" marR="0" lvl="3"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4pPr>
            <a:lvl5pPr marL="2286000" marR="0" lvl="4"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5pPr>
            <a:lvl6pPr marL="2743200" marR="0" lvl="5"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6pPr>
            <a:lvl7pPr marL="3200400" marR="0" lvl="6"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7pPr>
            <a:lvl8pPr marL="3657600" marR="0" lvl="7"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8pPr>
            <a:lvl9pPr marL="4114800" marR="0" lvl="8" indent="-304800" algn="l" rtl="0">
              <a:lnSpc>
                <a:spcPct val="115000"/>
              </a:lnSpc>
              <a:spcBef>
                <a:spcPts val="1600"/>
              </a:spcBef>
              <a:spcAft>
                <a:spcPts val="160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9pPr>
          </a:lstStyle>
          <a:p>
            <a:pPr marL="0" indent="0">
              <a:buFont typeface="Exo"/>
              <a:buNone/>
            </a:pPr>
            <a:r>
              <a:rPr lang="en-US" dirty="0"/>
              <a:t>Divergent Trends in Nurse-to-Doctor Ratios (201</a:t>
            </a:r>
            <a:r>
              <a:rPr lang="en-US" altLang="zh-TW" dirty="0"/>
              <a:t>8</a:t>
            </a:r>
            <a:r>
              <a:rPr lang="en-US" dirty="0"/>
              <a:t>-202</a:t>
            </a:r>
            <a:r>
              <a:rPr lang="en-US" altLang="zh-TW" dirty="0"/>
              <a:t>3</a:t>
            </a:r>
            <a:r>
              <a:rPr 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Key</a:t>
            </a:r>
            <a:r>
              <a:rPr lang="zh-TW" altLang="en-US" dirty="0"/>
              <a:t> </a:t>
            </a:r>
            <a:r>
              <a:rPr lang="en-US" altLang="zh-TW" dirty="0"/>
              <a:t>Insights</a:t>
            </a:r>
            <a:endParaRPr dirty="0"/>
          </a:p>
        </p:txBody>
      </p:sp>
      <p:sp>
        <p:nvSpPr>
          <p:cNvPr id="253" name="Google Shape;253;p43"/>
          <p:cNvSpPr txBox="1">
            <a:spLocks noGrp="1"/>
          </p:cNvSpPr>
          <p:nvPr>
            <p:ph type="body" idx="1"/>
          </p:nvPr>
        </p:nvSpPr>
        <p:spPr>
          <a:xfrm>
            <a:off x="930706" y="2580245"/>
            <a:ext cx="2942939" cy="27712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TOP 5 Countries by Nurse-to-Doctor Ratios</a:t>
            </a:r>
            <a:endParaRPr dirty="0"/>
          </a:p>
        </p:txBody>
      </p:sp>
      <p:sp>
        <p:nvSpPr>
          <p:cNvPr id="5" name="Google Shape;253;p43">
            <a:extLst>
              <a:ext uri="{FF2B5EF4-FFF2-40B4-BE49-F238E27FC236}">
                <a16:creationId xmlns:a16="http://schemas.microsoft.com/office/drawing/2014/main" id="{CE40E907-19C8-DB8E-33AE-6F30A2F3935D}"/>
              </a:ext>
            </a:extLst>
          </p:cNvPr>
          <p:cNvSpPr txBox="1">
            <a:spLocks/>
          </p:cNvSpPr>
          <p:nvPr/>
        </p:nvSpPr>
        <p:spPr>
          <a:xfrm>
            <a:off x="979867" y="4719164"/>
            <a:ext cx="2844615" cy="2771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Exo"/>
              <a:buAutoNum type="arabicPeriod"/>
              <a:defRPr sz="1200" b="0" i="0" u="none" strike="noStrike" cap="none">
                <a:solidFill>
                  <a:srgbClr val="191919"/>
                </a:solidFill>
                <a:latin typeface="Exo"/>
                <a:ea typeface="Exo"/>
                <a:cs typeface="Exo"/>
                <a:sym typeface="Exo"/>
              </a:defRPr>
            </a:lvl1pPr>
            <a:lvl2pPr marL="914400" marR="0" lvl="1"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2pPr>
            <a:lvl3pPr marL="1371600" marR="0" lvl="2"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3pPr>
            <a:lvl4pPr marL="1828800" marR="0" lvl="3"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4pPr>
            <a:lvl5pPr marL="2286000" marR="0" lvl="4"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5pPr>
            <a:lvl6pPr marL="2743200" marR="0" lvl="5"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6pPr>
            <a:lvl7pPr marL="3200400" marR="0" lvl="6"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7pPr>
            <a:lvl8pPr marL="3657600" marR="0" lvl="7"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8pPr>
            <a:lvl9pPr marL="4114800" marR="0" lvl="8" indent="-304800" algn="l" rtl="0">
              <a:lnSpc>
                <a:spcPct val="115000"/>
              </a:lnSpc>
              <a:spcBef>
                <a:spcPts val="1600"/>
              </a:spcBef>
              <a:spcAft>
                <a:spcPts val="160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9pPr>
          </a:lstStyle>
          <a:p>
            <a:pPr marL="0" indent="0">
              <a:buFont typeface="Exo"/>
              <a:buNone/>
            </a:pPr>
            <a:r>
              <a:rPr lang="en-US" dirty="0"/>
              <a:t>Doctors and Nurses in Canada (2018-2023)</a:t>
            </a:r>
          </a:p>
        </p:txBody>
      </p:sp>
      <p:pic>
        <p:nvPicPr>
          <p:cNvPr id="6" name="Picture 5" descr="A screenshot of a medical form&#10;&#10;AI-generated content may be incorrect.">
            <a:extLst>
              <a:ext uri="{FF2B5EF4-FFF2-40B4-BE49-F238E27FC236}">
                <a16:creationId xmlns:a16="http://schemas.microsoft.com/office/drawing/2014/main" id="{61661F34-11D2-2DEC-DE96-8DF4D175CECA}"/>
              </a:ext>
            </a:extLst>
          </p:cNvPr>
          <p:cNvPicPr>
            <a:picLocks noChangeAspect="1"/>
          </p:cNvPicPr>
          <p:nvPr/>
        </p:nvPicPr>
        <p:blipFill rotWithShape="1">
          <a:blip r:embed="rId3"/>
          <a:srcRect r="5331" b="5960"/>
          <a:stretch/>
        </p:blipFill>
        <p:spPr>
          <a:xfrm>
            <a:off x="720000" y="1026416"/>
            <a:ext cx="3364353" cy="1536840"/>
          </a:xfrm>
          <a:prstGeom prst="rect">
            <a:avLst/>
          </a:prstGeom>
        </p:spPr>
      </p:pic>
      <p:pic>
        <p:nvPicPr>
          <p:cNvPr id="7" name="Picture 6" descr="A graph with blue and orange lines&#10;&#10;AI-generated content may be incorrect.">
            <a:extLst>
              <a:ext uri="{FF2B5EF4-FFF2-40B4-BE49-F238E27FC236}">
                <a16:creationId xmlns:a16="http://schemas.microsoft.com/office/drawing/2014/main" id="{F33E7CE2-8878-CA9B-8A87-C69D80DED6A7}"/>
              </a:ext>
            </a:extLst>
          </p:cNvPr>
          <p:cNvPicPr>
            <a:picLocks noChangeAspect="1"/>
          </p:cNvPicPr>
          <p:nvPr/>
        </p:nvPicPr>
        <p:blipFill>
          <a:blip r:embed="rId4"/>
          <a:stretch>
            <a:fillRect/>
          </a:stretch>
        </p:blipFill>
        <p:spPr>
          <a:xfrm>
            <a:off x="1058501" y="3072139"/>
            <a:ext cx="2845097" cy="1579097"/>
          </a:xfrm>
          <a:prstGeom prst="rect">
            <a:avLst/>
          </a:prstGeom>
        </p:spPr>
      </p:pic>
      <p:pic>
        <p:nvPicPr>
          <p:cNvPr id="8" name="Picture 7" descr="A graph with numbers and a line&#10;&#10;AI-generated content may be incorrect.">
            <a:extLst>
              <a:ext uri="{FF2B5EF4-FFF2-40B4-BE49-F238E27FC236}">
                <a16:creationId xmlns:a16="http://schemas.microsoft.com/office/drawing/2014/main" id="{BB182342-10A8-E9DA-BD77-D0CA7A8BA38E}"/>
              </a:ext>
            </a:extLst>
          </p:cNvPr>
          <p:cNvPicPr>
            <a:picLocks noChangeAspect="1"/>
          </p:cNvPicPr>
          <p:nvPr/>
        </p:nvPicPr>
        <p:blipFill>
          <a:blip r:embed="rId5"/>
          <a:stretch>
            <a:fillRect/>
          </a:stretch>
        </p:blipFill>
        <p:spPr>
          <a:xfrm>
            <a:off x="5059649" y="1017725"/>
            <a:ext cx="3568919" cy="3488831"/>
          </a:xfrm>
          <a:prstGeom prst="rect">
            <a:avLst/>
          </a:prstGeom>
        </p:spPr>
      </p:pic>
      <p:sp>
        <p:nvSpPr>
          <p:cNvPr id="9" name="Google Shape;253;p43">
            <a:extLst>
              <a:ext uri="{FF2B5EF4-FFF2-40B4-BE49-F238E27FC236}">
                <a16:creationId xmlns:a16="http://schemas.microsoft.com/office/drawing/2014/main" id="{09065415-B235-982D-8C14-EBC863220D2E}"/>
              </a:ext>
            </a:extLst>
          </p:cNvPr>
          <p:cNvSpPr txBox="1">
            <a:spLocks/>
          </p:cNvSpPr>
          <p:nvPr/>
        </p:nvSpPr>
        <p:spPr>
          <a:xfrm>
            <a:off x="5200050" y="4548685"/>
            <a:ext cx="3943950" cy="3409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Exo"/>
              <a:buAutoNum type="arabicPeriod"/>
              <a:defRPr sz="1200" b="0" i="0" u="none" strike="noStrike" cap="none">
                <a:solidFill>
                  <a:srgbClr val="191919"/>
                </a:solidFill>
                <a:latin typeface="Exo"/>
                <a:ea typeface="Exo"/>
                <a:cs typeface="Exo"/>
                <a:sym typeface="Exo"/>
              </a:defRPr>
            </a:lvl1pPr>
            <a:lvl2pPr marL="914400" marR="0" lvl="1"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2pPr>
            <a:lvl3pPr marL="1371600" marR="0" lvl="2"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3pPr>
            <a:lvl4pPr marL="1828800" marR="0" lvl="3"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4pPr>
            <a:lvl5pPr marL="2286000" marR="0" lvl="4"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5pPr>
            <a:lvl6pPr marL="2743200" marR="0" lvl="5" indent="-304800" algn="l" rtl="0">
              <a:lnSpc>
                <a:spcPct val="115000"/>
              </a:lnSpc>
              <a:spcBef>
                <a:spcPts val="1600"/>
              </a:spcBef>
              <a:spcAft>
                <a:spcPts val="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6pPr>
            <a:lvl7pPr marL="3200400" marR="0" lvl="6" indent="-304800" algn="l" rtl="0">
              <a:lnSpc>
                <a:spcPct val="115000"/>
              </a:lnSpc>
              <a:spcBef>
                <a:spcPts val="1600"/>
              </a:spcBef>
              <a:spcAft>
                <a:spcPts val="0"/>
              </a:spcAft>
              <a:buClr>
                <a:srgbClr val="434343"/>
              </a:buClr>
              <a:buSzPts val="1200"/>
              <a:buFont typeface="Roboto Condensed Light"/>
              <a:buAutoNum type="arabicPeriod"/>
              <a:defRPr sz="1400" b="0" i="0" u="none" strike="noStrike" cap="none">
                <a:solidFill>
                  <a:srgbClr val="434343"/>
                </a:solidFill>
                <a:latin typeface="Exo"/>
                <a:ea typeface="Exo"/>
                <a:cs typeface="Exo"/>
                <a:sym typeface="Exo"/>
              </a:defRPr>
            </a:lvl7pPr>
            <a:lvl8pPr marL="3657600" marR="0" lvl="7" indent="-304800" algn="l" rtl="0">
              <a:lnSpc>
                <a:spcPct val="115000"/>
              </a:lnSpc>
              <a:spcBef>
                <a:spcPts val="1600"/>
              </a:spcBef>
              <a:spcAft>
                <a:spcPts val="0"/>
              </a:spcAft>
              <a:buClr>
                <a:srgbClr val="434343"/>
              </a:buClr>
              <a:buSzPts val="1200"/>
              <a:buFont typeface="Roboto Condensed Light"/>
              <a:buAutoNum type="alphaLcPeriod"/>
              <a:defRPr sz="1400" b="0" i="0" u="none" strike="noStrike" cap="none">
                <a:solidFill>
                  <a:srgbClr val="434343"/>
                </a:solidFill>
                <a:latin typeface="Exo"/>
                <a:ea typeface="Exo"/>
                <a:cs typeface="Exo"/>
                <a:sym typeface="Exo"/>
              </a:defRPr>
            </a:lvl8pPr>
            <a:lvl9pPr marL="4114800" marR="0" lvl="8" indent="-304800" algn="l" rtl="0">
              <a:lnSpc>
                <a:spcPct val="115000"/>
              </a:lnSpc>
              <a:spcBef>
                <a:spcPts val="1600"/>
              </a:spcBef>
              <a:spcAft>
                <a:spcPts val="1600"/>
              </a:spcAft>
              <a:buClr>
                <a:srgbClr val="434343"/>
              </a:buClr>
              <a:buSzPts val="1200"/>
              <a:buFont typeface="Roboto Condensed Light"/>
              <a:buAutoNum type="romanLcPeriod"/>
              <a:defRPr sz="1400" b="0" i="0" u="none" strike="noStrike" cap="none">
                <a:solidFill>
                  <a:srgbClr val="434343"/>
                </a:solidFill>
                <a:latin typeface="Exo"/>
                <a:ea typeface="Exo"/>
                <a:cs typeface="Exo"/>
                <a:sym typeface="Exo"/>
              </a:defRPr>
            </a:lvl9pPr>
          </a:lstStyle>
          <a:p>
            <a:pPr marL="0" indent="0">
              <a:buFont typeface="Exo"/>
              <a:buNone/>
            </a:pPr>
            <a:r>
              <a:rPr lang="en-US" dirty="0"/>
              <a:t>Correlation Between Doctors and Nurses (2023)</a:t>
            </a:r>
          </a:p>
        </p:txBody>
      </p:sp>
    </p:spTree>
    <p:extLst>
      <p:ext uri="{BB962C8B-B14F-4D97-AF65-F5344CB8AC3E}">
        <p14:creationId xmlns:p14="http://schemas.microsoft.com/office/powerpoint/2010/main" val="60473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62"/>
          <p:cNvSpPr/>
          <p:nvPr/>
        </p:nvSpPr>
        <p:spPr>
          <a:xfrm>
            <a:off x="4554912" y="3129912"/>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62"/>
          <p:cNvSpPr/>
          <p:nvPr/>
        </p:nvSpPr>
        <p:spPr>
          <a:xfrm>
            <a:off x="4554912" y="1487376"/>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62"/>
          <p:cNvSpPr/>
          <p:nvPr/>
        </p:nvSpPr>
        <p:spPr>
          <a:xfrm>
            <a:off x="352617" y="3129912"/>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62"/>
          <p:cNvSpPr/>
          <p:nvPr/>
        </p:nvSpPr>
        <p:spPr>
          <a:xfrm>
            <a:off x="352617" y="1487376"/>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6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Recommendations</a:t>
            </a:r>
            <a:endParaRPr dirty="0"/>
          </a:p>
        </p:txBody>
      </p:sp>
      <p:sp>
        <p:nvSpPr>
          <p:cNvPr id="939" name="Google Shape;939;p62"/>
          <p:cNvSpPr txBox="1">
            <a:spLocks noGrp="1"/>
          </p:cNvSpPr>
          <p:nvPr>
            <p:ph type="title" idx="2"/>
          </p:nvPr>
        </p:nvSpPr>
        <p:spPr>
          <a:xfrm>
            <a:off x="1522016" y="1442826"/>
            <a:ext cx="3883713"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Targeted Investment in Doctor Training &amp; Retention</a:t>
            </a:r>
            <a:endParaRPr sz="1800" dirty="0"/>
          </a:p>
        </p:txBody>
      </p:sp>
      <p:sp>
        <p:nvSpPr>
          <p:cNvPr id="940" name="Google Shape;940;p62"/>
          <p:cNvSpPr txBox="1">
            <a:spLocks noGrp="1"/>
          </p:cNvSpPr>
          <p:nvPr>
            <p:ph type="subTitle" idx="1"/>
          </p:nvPr>
        </p:nvSpPr>
        <p:spPr>
          <a:xfrm>
            <a:off x="1522017" y="1936538"/>
            <a:ext cx="270033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Prioritize doctor training and retention in high-ratio regions (e.g., Africa) to prevent brain drain.</a:t>
            </a:r>
            <a:endParaRPr dirty="0"/>
          </a:p>
        </p:txBody>
      </p:sp>
      <p:sp>
        <p:nvSpPr>
          <p:cNvPr id="941" name="Google Shape;941;p62"/>
          <p:cNvSpPr txBox="1">
            <a:spLocks noGrp="1"/>
          </p:cNvSpPr>
          <p:nvPr>
            <p:ph type="title" idx="3"/>
          </p:nvPr>
        </p:nvSpPr>
        <p:spPr>
          <a:xfrm>
            <a:off x="5708511" y="1442826"/>
            <a:ext cx="2661407"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Strategic Workforce Planning &amp; Policy</a:t>
            </a:r>
            <a:endParaRPr sz="1800" dirty="0"/>
          </a:p>
        </p:txBody>
      </p:sp>
      <p:sp>
        <p:nvSpPr>
          <p:cNvPr id="942" name="Google Shape;942;p62"/>
          <p:cNvSpPr txBox="1">
            <a:spLocks noGrp="1"/>
          </p:cNvSpPr>
          <p:nvPr>
            <p:ph type="subTitle" idx="4"/>
          </p:nvPr>
        </p:nvSpPr>
        <p:spPr>
          <a:xfrm>
            <a:off x="5708561" y="1936538"/>
            <a:ext cx="3062903"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Implement data-driven national workforce plans for balanced doctor and nurse growth, regularly monitoring ratios for adaptive policy.</a:t>
            </a:r>
            <a:endParaRPr dirty="0"/>
          </a:p>
        </p:txBody>
      </p:sp>
      <p:sp>
        <p:nvSpPr>
          <p:cNvPr id="943" name="Google Shape;943;p62"/>
          <p:cNvSpPr txBox="1">
            <a:spLocks noGrp="1"/>
          </p:cNvSpPr>
          <p:nvPr>
            <p:ph type="title" idx="5"/>
          </p:nvPr>
        </p:nvSpPr>
        <p:spPr>
          <a:xfrm>
            <a:off x="1522016" y="3147162"/>
            <a:ext cx="2661407"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Empower &amp; Expand Nursing Roles</a:t>
            </a:r>
            <a:endParaRPr sz="1800" dirty="0"/>
          </a:p>
        </p:txBody>
      </p:sp>
      <p:sp>
        <p:nvSpPr>
          <p:cNvPr id="944" name="Google Shape;944;p62"/>
          <p:cNvSpPr txBox="1">
            <a:spLocks noGrp="1"/>
          </p:cNvSpPr>
          <p:nvPr>
            <p:ph type="subTitle" idx="6"/>
          </p:nvPr>
        </p:nvSpPr>
        <p:spPr>
          <a:xfrm>
            <a:off x="1522016" y="3640874"/>
            <a:ext cx="270033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Invest in advanced training and expanded responsibilities for nurses, optimizing their utilization in doctor-shortage areas.</a:t>
            </a:r>
            <a:endParaRPr dirty="0"/>
          </a:p>
        </p:txBody>
      </p:sp>
      <p:sp>
        <p:nvSpPr>
          <p:cNvPr id="945" name="Google Shape;945;p62"/>
          <p:cNvSpPr txBox="1">
            <a:spLocks noGrp="1"/>
          </p:cNvSpPr>
          <p:nvPr>
            <p:ph type="title" idx="7"/>
          </p:nvPr>
        </p:nvSpPr>
        <p:spPr>
          <a:xfrm>
            <a:off x="5708511" y="3147162"/>
            <a:ext cx="2661407"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t>Foster Global &amp; Regional Collaboration</a:t>
            </a:r>
            <a:endParaRPr sz="1800" dirty="0"/>
          </a:p>
        </p:txBody>
      </p:sp>
      <p:sp>
        <p:nvSpPr>
          <p:cNvPr id="946" name="Google Shape;946;p62"/>
          <p:cNvSpPr txBox="1">
            <a:spLocks noGrp="1"/>
          </p:cNvSpPr>
          <p:nvPr>
            <p:ph type="subTitle" idx="8"/>
          </p:nvPr>
        </p:nvSpPr>
        <p:spPr>
          <a:xfrm>
            <a:off x="5708562" y="3640874"/>
            <a:ext cx="306290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Encourage international partnerships and standardized data collection for robust comparative analysis and effective policy-making.</a:t>
            </a:r>
            <a:endParaRPr dirty="0"/>
          </a:p>
        </p:txBody>
      </p:sp>
      <p:grpSp>
        <p:nvGrpSpPr>
          <p:cNvPr id="947" name="Google Shape;947;p62"/>
          <p:cNvGrpSpPr/>
          <p:nvPr/>
        </p:nvGrpSpPr>
        <p:grpSpPr>
          <a:xfrm>
            <a:off x="4948931" y="1835990"/>
            <a:ext cx="228968" cy="350987"/>
            <a:chOff x="-23930925" y="3149300"/>
            <a:chExt cx="192200" cy="294625"/>
          </a:xfrm>
        </p:grpSpPr>
        <p:sp>
          <p:nvSpPr>
            <p:cNvPr id="948" name="Google Shape;948;p62"/>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62"/>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62"/>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62"/>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62"/>
          <p:cNvGrpSpPr/>
          <p:nvPr/>
        </p:nvGrpSpPr>
        <p:grpSpPr>
          <a:xfrm>
            <a:off x="683769" y="1835095"/>
            <a:ext cx="354710" cy="352803"/>
            <a:chOff x="-27351575" y="3175300"/>
            <a:chExt cx="297750" cy="296150"/>
          </a:xfrm>
        </p:grpSpPr>
        <p:sp>
          <p:nvSpPr>
            <p:cNvPr id="953" name="Google Shape;953;p62"/>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2"/>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62"/>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62"/>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62"/>
          <p:cNvGrpSpPr/>
          <p:nvPr/>
        </p:nvGrpSpPr>
        <p:grpSpPr>
          <a:xfrm>
            <a:off x="4887475" y="3471859"/>
            <a:ext cx="351880" cy="352803"/>
            <a:chOff x="-23615075" y="3148525"/>
            <a:chExt cx="295375" cy="296150"/>
          </a:xfrm>
        </p:grpSpPr>
        <p:sp>
          <p:nvSpPr>
            <p:cNvPr id="958" name="Google Shape;958;p62"/>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62"/>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62"/>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62"/>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62"/>
          <p:cNvGrpSpPr/>
          <p:nvPr/>
        </p:nvGrpSpPr>
        <p:grpSpPr>
          <a:xfrm>
            <a:off x="684722" y="3503742"/>
            <a:ext cx="352803" cy="289039"/>
            <a:chOff x="-26981375" y="3951875"/>
            <a:chExt cx="296150" cy="242625"/>
          </a:xfrm>
        </p:grpSpPr>
        <p:sp>
          <p:nvSpPr>
            <p:cNvPr id="963" name="Google Shape;963;p62"/>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62"/>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62"/>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595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5"/>
          <p:cNvSpPr txBox="1">
            <a:spLocks noGrp="1"/>
          </p:cNvSpPr>
          <p:nvPr>
            <p:ph type="title"/>
          </p:nvPr>
        </p:nvSpPr>
        <p:spPr>
          <a:xfrm>
            <a:off x="1752391" y="1380337"/>
            <a:ext cx="5662217" cy="172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Appendix</a:t>
            </a:r>
            <a:endParaRPr dirty="0"/>
          </a:p>
        </p:txBody>
      </p:sp>
      <p:pic>
        <p:nvPicPr>
          <p:cNvPr id="281" name="Google Shape;281;p45"/>
          <p:cNvPicPr preferRelativeResize="0"/>
          <p:nvPr/>
        </p:nvPicPr>
        <p:blipFill rotWithShape="1">
          <a:blip r:embed="rId3">
            <a:alphaModFix/>
          </a:blip>
          <a:srcRect l="60513" t="15763" r="16584" b="61860"/>
          <a:stretch/>
        </p:blipFill>
        <p:spPr>
          <a:xfrm>
            <a:off x="7329925" y="1786975"/>
            <a:ext cx="1094076" cy="1068950"/>
          </a:xfrm>
          <a:prstGeom prst="rect">
            <a:avLst/>
          </a:prstGeom>
          <a:noFill/>
          <a:ln>
            <a:noFill/>
          </a:ln>
        </p:spPr>
      </p:pic>
      <p:pic>
        <p:nvPicPr>
          <p:cNvPr id="282" name="Google Shape;282;p45"/>
          <p:cNvPicPr preferRelativeResize="0"/>
          <p:nvPr/>
        </p:nvPicPr>
        <p:blipFill rotWithShape="1">
          <a:blip r:embed="rId3">
            <a:alphaModFix/>
          </a:blip>
          <a:srcRect l="11567" t="35246" r="65531" b="34727"/>
          <a:stretch/>
        </p:blipFill>
        <p:spPr>
          <a:xfrm>
            <a:off x="581675" y="1675763"/>
            <a:ext cx="1094074" cy="1434374"/>
          </a:xfrm>
          <a:prstGeom prst="rect">
            <a:avLst/>
          </a:prstGeom>
          <a:noFill/>
          <a:ln>
            <a:noFill/>
          </a:ln>
        </p:spPr>
      </p:pic>
      <p:sp>
        <p:nvSpPr>
          <p:cNvPr id="3" name="Subtitle 2">
            <a:extLst>
              <a:ext uri="{FF2B5EF4-FFF2-40B4-BE49-F238E27FC236}">
                <a16:creationId xmlns:a16="http://schemas.microsoft.com/office/drawing/2014/main" id="{3586A1F8-804B-2870-C650-A9CB9FE214EA}"/>
              </a:ext>
            </a:extLst>
          </p:cNvPr>
          <p:cNvSpPr>
            <a:spLocks noGrp="1"/>
          </p:cNvSpPr>
          <p:nvPr>
            <p:ph type="subTitle" idx="1"/>
          </p:nvPr>
        </p:nvSpPr>
        <p:spPr/>
        <p:txBody>
          <a:bodyPr/>
          <a:lstStyle/>
          <a:p>
            <a:endParaRPr lang="en-TW"/>
          </a:p>
        </p:txBody>
      </p:sp>
      <p:pic>
        <p:nvPicPr>
          <p:cNvPr id="4" name="Google Shape;299;p47">
            <a:extLst>
              <a:ext uri="{FF2B5EF4-FFF2-40B4-BE49-F238E27FC236}">
                <a16:creationId xmlns:a16="http://schemas.microsoft.com/office/drawing/2014/main" id="{5E7E099A-FCB3-ECD7-15F6-67332A81FABF}"/>
              </a:ext>
            </a:extLst>
          </p:cNvPr>
          <p:cNvPicPr preferRelativeResize="0"/>
          <p:nvPr/>
        </p:nvPicPr>
        <p:blipFill rotWithShape="1">
          <a:blip r:embed="rId4">
            <a:alphaModFix/>
          </a:blip>
          <a:srcRect t="30399" b="24213"/>
          <a:stretch/>
        </p:blipFill>
        <p:spPr>
          <a:xfrm>
            <a:off x="2133350" y="2929824"/>
            <a:ext cx="4877300" cy="22136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Appendix</a:t>
            </a:r>
            <a:r>
              <a:rPr lang="zh-TW" altLang="en-US" dirty="0"/>
              <a:t> </a:t>
            </a:r>
            <a:r>
              <a:rPr lang="en-US" altLang="zh-TW" dirty="0"/>
              <a:t>A</a:t>
            </a:r>
            <a:r>
              <a:rPr lang="zh-TW" altLang="en-US" dirty="0"/>
              <a:t> </a:t>
            </a:r>
            <a:r>
              <a:rPr lang="en-US" altLang="zh-TW" dirty="0"/>
              <a:t>Dashboard</a:t>
            </a:r>
            <a:endParaRPr dirty="0"/>
          </a:p>
        </p:txBody>
      </p:sp>
      <p:sp>
        <p:nvSpPr>
          <p:cNvPr id="298" name="Google Shape;298;p47"/>
          <p:cNvSpPr txBox="1">
            <a:spLocks noGrp="1"/>
          </p:cNvSpPr>
          <p:nvPr>
            <p:ph type="subTitle" idx="1"/>
          </p:nvPr>
        </p:nvSpPr>
        <p:spPr>
          <a:xfrm>
            <a:off x="1309200" y="5576306"/>
            <a:ext cx="6525600" cy="886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Here you can give a brief description of the topic you want to talk about. For example, if you want to talk about </a:t>
            </a:r>
            <a:r>
              <a:rPr lang="en" i="1" dirty="0"/>
              <a:t>Mercury</a:t>
            </a:r>
            <a:r>
              <a:rPr lang="en" dirty="0"/>
              <a:t>, you can say that </a:t>
            </a:r>
            <a:r>
              <a:rPr lang="en" i="1" dirty="0"/>
              <a:t>it’s the smallest planet in the entire Solar System</a:t>
            </a:r>
            <a:endParaRPr dirty="0"/>
          </a:p>
        </p:txBody>
      </p:sp>
      <p:pic>
        <p:nvPicPr>
          <p:cNvPr id="2" name="Picture 1" descr="A screenshot of a computer&#10;&#10;AI-generated content may be incorrect.">
            <a:extLst>
              <a:ext uri="{FF2B5EF4-FFF2-40B4-BE49-F238E27FC236}">
                <a16:creationId xmlns:a16="http://schemas.microsoft.com/office/drawing/2014/main" id="{182791DF-4878-BAC4-6149-980F82891A75}"/>
              </a:ext>
            </a:extLst>
          </p:cNvPr>
          <p:cNvPicPr>
            <a:picLocks noChangeAspect="1"/>
          </p:cNvPicPr>
          <p:nvPr/>
        </p:nvPicPr>
        <p:blipFill>
          <a:blip r:embed="rId3"/>
          <a:stretch>
            <a:fillRect/>
          </a:stretch>
        </p:blipFill>
        <p:spPr>
          <a:xfrm>
            <a:off x="669572" y="1017725"/>
            <a:ext cx="7804856" cy="40592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Appendix</a:t>
            </a:r>
            <a:r>
              <a:rPr lang="zh-TW" altLang="en-US" dirty="0"/>
              <a:t> </a:t>
            </a:r>
            <a:r>
              <a:rPr lang="en-US" altLang="zh-TW" dirty="0"/>
              <a:t>B</a:t>
            </a:r>
            <a:r>
              <a:rPr lang="zh-TW" altLang="en-US" dirty="0"/>
              <a:t> </a:t>
            </a:r>
            <a:r>
              <a:rPr lang="en-US" altLang="zh-TW" dirty="0"/>
              <a:t>Python</a:t>
            </a:r>
            <a:r>
              <a:rPr lang="zh-TW" altLang="en-US" dirty="0"/>
              <a:t> </a:t>
            </a:r>
            <a:r>
              <a:rPr lang="en-US" altLang="zh-TW" dirty="0"/>
              <a:t>Code</a:t>
            </a:r>
            <a:endParaRPr dirty="0"/>
          </a:p>
        </p:txBody>
      </p:sp>
      <p:sp>
        <p:nvSpPr>
          <p:cNvPr id="298" name="Google Shape;298;p47"/>
          <p:cNvSpPr txBox="1">
            <a:spLocks noGrp="1"/>
          </p:cNvSpPr>
          <p:nvPr>
            <p:ph type="subTitle" idx="1"/>
          </p:nvPr>
        </p:nvSpPr>
        <p:spPr>
          <a:xfrm>
            <a:off x="1309200" y="5576306"/>
            <a:ext cx="6525600" cy="886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Here you can give a brief description of the topic you want to talk about. For example, if you want to talk about </a:t>
            </a:r>
            <a:r>
              <a:rPr lang="en" i="1" dirty="0"/>
              <a:t>Mercury</a:t>
            </a:r>
            <a:r>
              <a:rPr lang="en" dirty="0"/>
              <a:t>, you can say that </a:t>
            </a:r>
            <a:r>
              <a:rPr lang="en" i="1" dirty="0"/>
              <a:t>it’s the smallest planet in the entire Solar System</a:t>
            </a:r>
            <a:endParaRPr dirty="0"/>
          </a:p>
        </p:txBody>
      </p:sp>
      <p:pic>
        <p:nvPicPr>
          <p:cNvPr id="3" name="Picture 2">
            <a:extLst>
              <a:ext uri="{FF2B5EF4-FFF2-40B4-BE49-F238E27FC236}">
                <a16:creationId xmlns:a16="http://schemas.microsoft.com/office/drawing/2014/main" id="{1A696603-288C-1C05-ABCF-9C0306650F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422" y="1338792"/>
            <a:ext cx="5943600" cy="1720850"/>
          </a:xfrm>
          <a:prstGeom prst="rect">
            <a:avLst/>
          </a:prstGeom>
        </p:spPr>
      </p:pic>
      <p:sp>
        <p:nvSpPr>
          <p:cNvPr id="5" name="TextBox 4">
            <a:extLst>
              <a:ext uri="{FF2B5EF4-FFF2-40B4-BE49-F238E27FC236}">
                <a16:creationId xmlns:a16="http://schemas.microsoft.com/office/drawing/2014/main" id="{BC276E0E-FC55-7B3E-A97D-F5551C3647AC}"/>
              </a:ext>
            </a:extLst>
          </p:cNvPr>
          <p:cNvSpPr txBox="1"/>
          <p:nvPr/>
        </p:nvSpPr>
        <p:spPr>
          <a:xfrm>
            <a:off x="358422" y="1031015"/>
            <a:ext cx="5198532" cy="307777"/>
          </a:xfrm>
          <a:prstGeom prst="rect">
            <a:avLst/>
          </a:prstGeom>
          <a:noFill/>
        </p:spPr>
        <p:txBody>
          <a:bodyPr wrap="square">
            <a:spAutoFit/>
          </a:bodyPr>
          <a:lstStyle/>
          <a:p>
            <a:pPr lvl="0"/>
            <a:r>
              <a:rPr lang="en-CA" sz="1400" dirty="0">
                <a:effectLst/>
                <a:latin typeface="Calibri" panose="020F0502020204030204" pitchFamily="34" charset="0"/>
                <a:ea typeface="Calibri" panose="020F0502020204030204" pitchFamily="34" charset="0"/>
                <a:cs typeface="Times New Roman" panose="02020603050405020304" pitchFamily="18" charset="0"/>
              </a:rPr>
              <a:t>Obtain the total number of countries in the two datasets</a:t>
            </a:r>
            <a:endParaRPr lang="en-TW"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AD67DA4F-5559-CE92-BEED-E74111F6FD2F}"/>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TW" sz="1800" b="0" i="0" u="none" strike="noStrike" cap="none" normalizeH="0" baseline="0">
              <a:ln>
                <a:noFill/>
              </a:ln>
              <a:solidFill>
                <a:schemeClr val="tx1"/>
              </a:solidFill>
              <a:effectLst/>
              <a:latin typeface="Arial" panose="020B0604020202020204" pitchFamily="34" charset="0"/>
            </a:endParaRPr>
          </a:p>
        </p:txBody>
      </p:sp>
      <p:pic>
        <p:nvPicPr>
          <p:cNvPr id="3073" name="Picture 4">
            <a:extLst>
              <a:ext uri="{FF2B5EF4-FFF2-40B4-BE49-F238E27FC236}">
                <a16:creationId xmlns:a16="http://schemas.microsoft.com/office/drawing/2014/main" id="{9BD1F9B8-55BB-6515-4F5D-28ABA140A9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422" y="3534389"/>
            <a:ext cx="5943600" cy="140493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6D3DD49-64E8-EA0D-49CD-8315422E87CA}"/>
              </a:ext>
            </a:extLst>
          </p:cNvPr>
          <p:cNvSpPr txBox="1"/>
          <p:nvPr/>
        </p:nvSpPr>
        <p:spPr>
          <a:xfrm>
            <a:off x="358422" y="3226820"/>
            <a:ext cx="6456910" cy="307777"/>
          </a:xfrm>
          <a:prstGeom prst="rect">
            <a:avLst/>
          </a:prstGeom>
          <a:noFill/>
        </p:spPr>
        <p:txBody>
          <a:bodyPr wrap="square">
            <a:spAutoFit/>
          </a:bodyPr>
          <a:lstStyle/>
          <a:p>
            <a:pPr lvl="0"/>
            <a:r>
              <a:rPr lang="en-CA" sz="1400" dirty="0">
                <a:effectLst/>
                <a:latin typeface="Calibri" panose="020F0502020204030204" pitchFamily="34" charset="0"/>
                <a:ea typeface="Calibri" panose="020F0502020204030204" pitchFamily="34" charset="0"/>
                <a:cs typeface="Times New Roman" panose="02020603050405020304" pitchFamily="18" charset="0"/>
              </a:rPr>
              <a:t>Obtain the average number of doctors and nurses per 10,000 people</a:t>
            </a:r>
            <a:endParaRPr lang="en-TW"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8062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Appendix</a:t>
            </a:r>
            <a:r>
              <a:rPr lang="zh-TW" altLang="en-US" dirty="0"/>
              <a:t> </a:t>
            </a:r>
            <a:r>
              <a:rPr lang="en-US" altLang="zh-TW" dirty="0"/>
              <a:t>B</a:t>
            </a:r>
            <a:r>
              <a:rPr lang="zh-TW" altLang="en-US" dirty="0"/>
              <a:t> </a:t>
            </a:r>
            <a:r>
              <a:rPr lang="en-US" altLang="zh-TW" dirty="0"/>
              <a:t>Python</a:t>
            </a:r>
            <a:r>
              <a:rPr lang="zh-TW" altLang="en-US" dirty="0"/>
              <a:t> </a:t>
            </a:r>
            <a:r>
              <a:rPr lang="en-US" altLang="zh-TW" dirty="0"/>
              <a:t>Code</a:t>
            </a:r>
            <a:endParaRPr dirty="0"/>
          </a:p>
        </p:txBody>
      </p:sp>
      <p:sp>
        <p:nvSpPr>
          <p:cNvPr id="298" name="Google Shape;298;p47"/>
          <p:cNvSpPr txBox="1">
            <a:spLocks noGrp="1"/>
          </p:cNvSpPr>
          <p:nvPr>
            <p:ph type="subTitle" idx="1"/>
          </p:nvPr>
        </p:nvSpPr>
        <p:spPr>
          <a:xfrm>
            <a:off x="1309200" y="5576306"/>
            <a:ext cx="6525600" cy="886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Here you can give a brief description of the topic you want to talk about. For example, if you want to talk about </a:t>
            </a:r>
            <a:r>
              <a:rPr lang="en" i="1" dirty="0"/>
              <a:t>Mercury</a:t>
            </a:r>
            <a:r>
              <a:rPr lang="en" dirty="0"/>
              <a:t>, you can say that </a:t>
            </a:r>
            <a:r>
              <a:rPr lang="en" i="1" dirty="0"/>
              <a:t>it’s the smallest planet in the entire Solar System</a:t>
            </a:r>
            <a:endParaRPr dirty="0"/>
          </a:p>
        </p:txBody>
      </p:sp>
      <p:sp>
        <p:nvSpPr>
          <p:cNvPr id="5" name="TextBox 4">
            <a:extLst>
              <a:ext uri="{FF2B5EF4-FFF2-40B4-BE49-F238E27FC236}">
                <a16:creationId xmlns:a16="http://schemas.microsoft.com/office/drawing/2014/main" id="{BC276E0E-FC55-7B3E-A97D-F5551C3647AC}"/>
              </a:ext>
            </a:extLst>
          </p:cNvPr>
          <p:cNvSpPr txBox="1"/>
          <p:nvPr/>
        </p:nvSpPr>
        <p:spPr>
          <a:xfrm>
            <a:off x="234244" y="2387084"/>
            <a:ext cx="5198532" cy="369332"/>
          </a:xfrm>
          <a:prstGeom prst="rect">
            <a:avLst/>
          </a:prstGeom>
          <a:noFill/>
        </p:spPr>
        <p:txBody>
          <a:bodyPr wrap="square">
            <a:spAutoFit/>
          </a:bodyPr>
          <a:lstStyle/>
          <a:p>
            <a:pPr lvl="0"/>
            <a:r>
              <a:rPr lang="en-CA" sz="1800" dirty="0">
                <a:effectLst/>
                <a:latin typeface="Calibri" panose="020F0502020204030204" pitchFamily="34" charset="0"/>
                <a:ea typeface="Calibri" panose="020F0502020204030204" pitchFamily="34" charset="0"/>
                <a:cs typeface="Times New Roman" panose="02020603050405020304" pitchFamily="18" charset="0"/>
              </a:rPr>
              <a:t>Obtain the period of years in the two datasets</a:t>
            </a:r>
            <a:endParaRPr lang="en-TW"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AD67DA4F-5559-CE92-BEED-E74111F6FD2F}"/>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TW"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6D3DD49-64E8-EA0D-49CD-8315422E87CA}"/>
              </a:ext>
            </a:extLst>
          </p:cNvPr>
          <p:cNvSpPr txBox="1"/>
          <p:nvPr/>
        </p:nvSpPr>
        <p:spPr>
          <a:xfrm>
            <a:off x="4941712" y="1376346"/>
            <a:ext cx="4202288" cy="523220"/>
          </a:xfrm>
          <a:prstGeom prst="rect">
            <a:avLst/>
          </a:prstGeom>
          <a:noFill/>
        </p:spPr>
        <p:txBody>
          <a:bodyPr wrap="square">
            <a:spAutoFit/>
          </a:bodyPr>
          <a:lstStyle/>
          <a:p>
            <a:pPr lvl="0"/>
            <a:r>
              <a:rPr lang="en-CA" sz="1400" dirty="0">
                <a:effectLst/>
                <a:latin typeface="Calibri" panose="020F0502020204030204" pitchFamily="34" charset="0"/>
                <a:ea typeface="Calibri" panose="020F0502020204030204" pitchFamily="34" charset="0"/>
                <a:cs typeface="Times New Roman" panose="02020603050405020304" pitchFamily="18" charset="0"/>
              </a:rPr>
              <a:t>The Parent Location with the highest nurse-to-doctor ratio is Africa</a:t>
            </a:r>
            <a:endParaRPr lang="en-TW"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2E334091-ABF3-E1F9-FD15-CFE00A4C1E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4244" y="2727700"/>
            <a:ext cx="4360050" cy="1127278"/>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9C506A25-9A46-35D3-6DAA-55BCC7A4FC95}"/>
              </a:ext>
            </a:extLst>
          </p:cNvPr>
          <p:cNvPicPr>
            <a:picLocks noChangeAspect="1"/>
          </p:cNvPicPr>
          <p:nvPr/>
        </p:nvPicPr>
        <p:blipFill rotWithShape="1">
          <a:blip r:embed="rId4"/>
          <a:srcRect r="17895"/>
          <a:stretch/>
        </p:blipFill>
        <p:spPr>
          <a:xfrm>
            <a:off x="4908921" y="1957078"/>
            <a:ext cx="3876657" cy="3059283"/>
          </a:xfrm>
          <a:prstGeom prst="rect">
            <a:avLst/>
          </a:prstGeom>
        </p:spPr>
      </p:pic>
    </p:spTree>
    <p:extLst>
      <p:ext uri="{BB962C8B-B14F-4D97-AF65-F5344CB8AC3E}">
        <p14:creationId xmlns:p14="http://schemas.microsoft.com/office/powerpoint/2010/main" val="2689458530"/>
      </p:ext>
    </p:extLst>
  </p:cSld>
  <p:clrMapOvr>
    <a:masterClrMapping/>
  </p:clrMapOvr>
</p:sld>
</file>

<file path=ppt/theme/theme1.xml><?xml version="1.0" encoding="utf-8"?>
<a:theme xmlns:a="http://schemas.openxmlformats.org/drawingml/2006/main" name="Animated Healthcare Center by Slidesgo">
  <a:themeElements>
    <a:clrScheme name="Simple Light">
      <a:dk1>
        <a:srgbClr val="252E47"/>
      </a:dk1>
      <a:lt1>
        <a:srgbClr val="FFFFFF"/>
      </a:lt1>
      <a:dk2>
        <a:srgbClr val="F8F5EC"/>
      </a:dk2>
      <a:lt2>
        <a:srgbClr val="ECE9E1"/>
      </a:lt2>
      <a:accent1>
        <a:srgbClr val="DADACE"/>
      </a:accent1>
      <a:accent2>
        <a:srgbClr val="FFFFFF"/>
      </a:accent2>
      <a:accent3>
        <a:srgbClr val="FFFFFF"/>
      </a:accent3>
      <a:accent4>
        <a:srgbClr val="FFFFFF"/>
      </a:accent4>
      <a:accent5>
        <a:srgbClr val="FFFFFF"/>
      </a:accent5>
      <a:accent6>
        <a:srgbClr val="FFFFFF"/>
      </a:accent6>
      <a:hlink>
        <a:srgbClr val="252E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716</TotalTime>
  <Words>765</Words>
  <Application>Microsoft Office PowerPoint</Application>
  <PresentationFormat>On-screen Show (16:9)</PresentationFormat>
  <Paragraphs>73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Exo</vt:lpstr>
      <vt:lpstr>Roboto Condensed Light</vt:lpstr>
      <vt:lpstr>Sora</vt:lpstr>
      <vt:lpstr>Animated Healthcare Center by Slidesgo</vt:lpstr>
      <vt:lpstr>Global Healthcare Workforce Imbalance</vt:lpstr>
      <vt:lpstr>Dataset Summary</vt:lpstr>
      <vt:lpstr>Analysis Approach</vt:lpstr>
      <vt:lpstr>Key Insights</vt:lpstr>
      <vt:lpstr>Key Insights</vt:lpstr>
      <vt:lpstr>Recommendations</vt:lpstr>
      <vt:lpstr>Appendix</vt:lpstr>
      <vt:lpstr>Appendix A Dashboard</vt:lpstr>
      <vt:lpstr>Appendix B Python Code</vt:lpstr>
      <vt:lpstr>Appendix B Python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Healthcare Workforce Imbalance</dc:title>
  <dc:creator>Naveen Sengamalam</dc:creator>
  <cp:lastModifiedBy>Naveen Sengamalam</cp:lastModifiedBy>
  <cp:revision>18</cp:revision>
  <dcterms:modified xsi:type="dcterms:W3CDTF">2025-08-05T04:38:20Z</dcterms:modified>
</cp:coreProperties>
</file>