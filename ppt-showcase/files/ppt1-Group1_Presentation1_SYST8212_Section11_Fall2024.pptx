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73" r:id="rId5"/>
    <p:sldId id="289" r:id="rId6"/>
    <p:sldId id="290" r:id="rId7"/>
    <p:sldId id="283" r:id="rId8"/>
    <p:sldId id="281" r:id="rId9"/>
    <p:sldId id="285" r:id="rId10"/>
    <p:sldId id="277" r:id="rId11"/>
    <p:sldId id="288" r:id="rId12"/>
    <p:sldId id="286" r:id="rId13"/>
    <p:sldId id="291" r:id="rId14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1224" userDrawn="1">
          <p15:clr>
            <a:srgbClr val="A4A3A4"/>
          </p15:clr>
        </p15:guide>
        <p15:guide id="3" pos="7368" userDrawn="1">
          <p15:clr>
            <a:srgbClr val="A4A3A4"/>
          </p15:clr>
        </p15:guide>
        <p15:guide id="4" pos="312" userDrawn="1">
          <p15:clr>
            <a:srgbClr val="A4A3A4"/>
          </p15:clr>
        </p15:guide>
        <p15:guide id="6" orient="horz" pos="2856" userDrawn="1">
          <p15:clr>
            <a:srgbClr val="A4A3A4"/>
          </p15:clr>
        </p15:guide>
        <p15:guide id="7" pos="5928" userDrawn="1">
          <p15:clr>
            <a:srgbClr val="A4A3A4"/>
          </p15:clr>
        </p15:guide>
        <p15:guide id="8" pos="6168" userDrawn="1">
          <p15:clr>
            <a:srgbClr val="A4A3A4"/>
          </p15:clr>
        </p15:guide>
        <p15:guide id="9" pos="1512" userDrawn="1">
          <p15:clr>
            <a:srgbClr val="A4A3A4"/>
          </p15:clr>
        </p15:guide>
        <p15:guide id="10" orient="horz" pos="264" userDrawn="1">
          <p15:clr>
            <a:srgbClr val="A4A3A4"/>
          </p15:clr>
        </p15:guide>
        <p15:guide id="11" pos="2496" userDrawn="1">
          <p15:clr>
            <a:srgbClr val="A4A3A4"/>
          </p15:clr>
        </p15:guide>
        <p15:guide id="12" pos="2688" userDrawn="1">
          <p15:clr>
            <a:srgbClr val="A4A3A4"/>
          </p15:clr>
        </p15:guide>
        <p15:guide id="13" pos="4536" userDrawn="1">
          <p15:clr>
            <a:srgbClr val="A4A3A4"/>
          </p15:clr>
        </p15:guide>
        <p15:guide id="14" pos="4008" userDrawn="1">
          <p15:clr>
            <a:srgbClr val="A4A3A4"/>
          </p15:clr>
        </p15:guide>
        <p15:guide id="15" pos="4944" userDrawn="1">
          <p15:clr>
            <a:srgbClr val="A4A3A4"/>
          </p15:clr>
        </p15:guide>
        <p15:guide id="16" pos="5136" userDrawn="1">
          <p15:clr>
            <a:srgbClr val="A4A3A4"/>
          </p15:clr>
        </p15:guide>
        <p15:guide id="17" orient="horz" pos="1584" userDrawn="1">
          <p15:clr>
            <a:srgbClr val="A4A3A4"/>
          </p15:clr>
        </p15:guide>
        <p15:guide id="18" orient="horz" pos="2736" userDrawn="1">
          <p15:clr>
            <a:srgbClr val="A4A3A4"/>
          </p15:clr>
        </p15:guide>
        <p15:guide id="19" orient="horz" pos="3648" userDrawn="1">
          <p15:clr>
            <a:srgbClr val="A4A3A4"/>
          </p15:clr>
        </p15:guide>
        <p15:guide id="20" orient="horz" pos="864" userDrawn="1">
          <p15:clr>
            <a:srgbClr val="A4A3A4"/>
          </p15:clr>
        </p15:guide>
        <p15:guide id="21" orient="horz" pos="3984" userDrawn="1">
          <p15:clr>
            <a:srgbClr val="A4A3A4"/>
          </p15:clr>
        </p15:guide>
        <p15:guide id="22" pos="456" userDrawn="1">
          <p15:clr>
            <a:srgbClr val="A4A3A4"/>
          </p15:clr>
        </p15:guide>
        <p15:guide id="23" pos="7248" userDrawn="1">
          <p15:clr>
            <a:srgbClr val="A4A3A4"/>
          </p15:clr>
        </p15:guide>
        <p15:guide id="24" orient="horz" pos="1920" userDrawn="1">
          <p15:clr>
            <a:srgbClr val="A4A3A4"/>
          </p15:clr>
        </p15:guide>
        <p15:guide id="25" orient="horz" pos="2256" userDrawn="1">
          <p15:clr>
            <a:srgbClr val="A4A3A4"/>
          </p15:clr>
        </p15:guide>
        <p15:guide id="26" pos="7176" userDrawn="1">
          <p15:clr>
            <a:srgbClr val="A4A3A4"/>
          </p15:clr>
        </p15:guide>
        <p15:guide id="27" orient="horz" pos="1704" userDrawn="1">
          <p15:clr>
            <a:srgbClr val="A4A3A4"/>
          </p15:clr>
        </p15:guide>
        <p15:guide id="28" pos="4176" userDrawn="1">
          <p15:clr>
            <a:srgbClr val="A4A3A4"/>
          </p15:clr>
        </p15:guide>
        <p15:guide id="29" orient="horz" pos="2592" userDrawn="1">
          <p15:clr>
            <a:srgbClr val="A4A3A4"/>
          </p15:clr>
        </p15:guide>
        <p15:guide id="30" pos="6912" userDrawn="1">
          <p15:clr>
            <a:srgbClr val="A4A3A4"/>
          </p15:clr>
        </p15:guide>
        <p15:guide id="31" pos="35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BEB2"/>
    <a:srgbClr val="753F2D"/>
    <a:srgbClr val="5E3324"/>
    <a:srgbClr val="8A4C34"/>
    <a:srgbClr val="815550"/>
    <a:srgbClr val="A3573E"/>
    <a:srgbClr val="E7E6E6"/>
    <a:srgbClr val="C28D6D"/>
    <a:srgbClr val="D2986F"/>
    <a:srgbClr val="333B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E2B5A8-E977-4C4D-A2EE-7CC7A857CC80}" v="2" dt="2025-11-13T05:09:34.4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/>
    <p:restoredTop sz="77755" autoAdjust="0"/>
  </p:normalViewPr>
  <p:slideViewPr>
    <p:cSldViewPr snapToGrid="0">
      <p:cViewPr varScale="1">
        <p:scale>
          <a:sx n="67" d="100"/>
          <a:sy n="67" d="100"/>
        </p:scale>
        <p:origin x="725" y="38"/>
      </p:cViewPr>
      <p:guideLst>
        <p:guide orient="horz" pos="1224"/>
        <p:guide pos="7368"/>
        <p:guide pos="312"/>
        <p:guide orient="horz" pos="2856"/>
        <p:guide pos="5928"/>
        <p:guide pos="6168"/>
        <p:guide pos="1512"/>
        <p:guide orient="horz" pos="264"/>
        <p:guide pos="2496"/>
        <p:guide pos="2688"/>
        <p:guide pos="4536"/>
        <p:guide pos="4008"/>
        <p:guide pos="4944"/>
        <p:guide pos="5136"/>
        <p:guide orient="horz" pos="1584"/>
        <p:guide orient="horz" pos="2736"/>
        <p:guide orient="horz" pos="3648"/>
        <p:guide orient="horz" pos="864"/>
        <p:guide orient="horz" pos="3984"/>
        <p:guide pos="456"/>
        <p:guide pos="7248"/>
        <p:guide orient="horz" pos="1920"/>
        <p:guide orient="horz" pos="2256"/>
        <p:guide pos="7176"/>
        <p:guide orient="horz" pos="1704"/>
        <p:guide pos="4176"/>
        <p:guide orient="horz" pos="2592"/>
        <p:guide pos="6912"/>
        <p:guide pos="355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237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8B30D67-EB7C-4323-A6AB-20071C4FCC2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26DD94-0E47-FE33-5C0F-9E497B99BEF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433F7E-3633-4FA3-974D-CA21FB24834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36FF0-1B83-FCD7-197D-6F6CBEA8FE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A88305-7C09-5A95-A84B-C7CEA8D00FA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482836-E43C-41FF-A11B-3D8AB6E68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9817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45F7B4-7442-4021-9F1E-8BC3C363C892}" type="datetimeFigureOut">
              <a:rPr lang="en-US" noProof="0" smtClean="0"/>
              <a:t>11/13/2025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CDE012-9E2E-4477-8B5C-4E7D4E9BCBA6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39385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1925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750767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195421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266910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768037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t>7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6731309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268114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713698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B8029-33F3-9414-AD10-00871D91AA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7712" y="1408176"/>
            <a:ext cx="6400800" cy="2387600"/>
          </a:xfrm>
        </p:spPr>
        <p:txBody>
          <a:bodyPr anchor="t">
            <a:normAutofit/>
          </a:bodyPr>
          <a:lstStyle>
            <a:lvl1pPr algn="l">
              <a:lnSpc>
                <a:spcPct val="80000"/>
              </a:lnSpc>
              <a:defRPr sz="72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32B008-64B6-378D-9C5D-DCC8DFEBC6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67912" y="5047488"/>
            <a:ext cx="5486400" cy="384048"/>
          </a:xfrm>
        </p:spPr>
        <p:txBody>
          <a:bodyPr/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5444BA9-47A2-8EBA-F11F-AF833CBC1FB6}"/>
              </a:ext>
            </a:extLst>
          </p:cNvPr>
          <p:cNvGrpSpPr/>
          <p:nvPr userDrawn="1"/>
        </p:nvGrpSpPr>
        <p:grpSpPr>
          <a:xfrm>
            <a:off x="3979533" y="5801746"/>
            <a:ext cx="8221703" cy="0"/>
            <a:chOff x="3733800" y="5539861"/>
            <a:chExt cx="8221703" cy="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7C7E957-5A54-C6BB-DBCA-B0A579E99122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5539861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75792F5-3B57-83E5-2E85-1B67A64BF570}"/>
                </a:ext>
              </a:extLst>
            </p:cNvPr>
            <p:cNvCxnSpPr>
              <a:cxnSpLocks/>
            </p:cNvCxnSpPr>
            <p:nvPr/>
          </p:nvCxnSpPr>
          <p:spPr>
            <a:xfrm>
              <a:off x="9783803" y="5539861"/>
              <a:ext cx="2171700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80638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03BBE-23DC-E951-32B6-0E91B8089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144" y="1463040"/>
            <a:ext cx="7498080" cy="70408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0836A-7452-872A-28D0-081C1338D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2576" y="2953512"/>
            <a:ext cx="7470648" cy="329656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None/>
              <a:defRPr sz="22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1600" i="1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endParaRPr lang="en-P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39F35-2573-69E0-B17D-B4B0F85CE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5CE41-241D-72CD-1C8F-006A477B5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2789DD7-8E5F-BCF6-7A1E-0AC33BD880AC}"/>
              </a:ext>
            </a:extLst>
          </p:cNvPr>
          <p:cNvGrpSpPr/>
          <p:nvPr userDrawn="1"/>
        </p:nvGrpSpPr>
        <p:grpSpPr>
          <a:xfrm>
            <a:off x="2400300" y="2535841"/>
            <a:ext cx="9801127" cy="821"/>
            <a:chOff x="2286319" y="5546299"/>
            <a:chExt cx="9801127" cy="90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610F86C-F479-AC03-216E-DD60112AC854}"/>
                </a:ext>
              </a:extLst>
            </p:cNvPr>
            <p:cNvCxnSpPr>
              <a:cxnSpLocks/>
            </p:cNvCxnSpPr>
            <p:nvPr/>
          </p:nvCxnSpPr>
          <p:spPr>
            <a:xfrm>
              <a:off x="2286319" y="5546299"/>
              <a:ext cx="7391400" cy="0"/>
            </a:xfrm>
            <a:prstGeom prst="line">
              <a:avLst/>
            </a:prstGeom>
            <a:ln w="571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A02E8F6-3623-48C2-4F02-9472E2977FB8}"/>
                </a:ext>
              </a:extLst>
            </p:cNvPr>
            <p:cNvCxnSpPr>
              <a:cxnSpLocks/>
            </p:cNvCxnSpPr>
            <p:nvPr/>
          </p:nvCxnSpPr>
          <p:spPr>
            <a:xfrm>
              <a:off x="9676016" y="5547202"/>
              <a:ext cx="241143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68269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39D39-DAD0-D550-D3C7-42F702A78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6992" y="1709738"/>
            <a:ext cx="7290458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54DFA-4C17-2AA0-0E19-8D452B73A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56992" y="4589463"/>
            <a:ext cx="729045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F8D5DED-A875-4BFE-015E-C29679EC468C}"/>
              </a:ext>
            </a:extLst>
          </p:cNvPr>
          <p:cNvGrpSpPr/>
          <p:nvPr userDrawn="1"/>
        </p:nvGrpSpPr>
        <p:grpSpPr>
          <a:xfrm>
            <a:off x="3979533" y="5801746"/>
            <a:ext cx="8221703" cy="0"/>
            <a:chOff x="3733800" y="5539861"/>
            <a:chExt cx="8221703" cy="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ED54A14-B37E-AA5D-2F7D-4530DEF3C347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5539861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611F7DB-0F8D-8E5A-0137-AD5E5B20C351}"/>
                </a:ext>
              </a:extLst>
            </p:cNvPr>
            <p:cNvCxnSpPr>
              <a:cxnSpLocks/>
            </p:cNvCxnSpPr>
            <p:nvPr/>
          </p:nvCxnSpPr>
          <p:spPr>
            <a:xfrm>
              <a:off x="9783803" y="5539861"/>
              <a:ext cx="2171700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22719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 dark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2C33EA-A741-FA13-451C-6F35902CBDD0}"/>
              </a:ext>
            </a:extLst>
          </p:cNvPr>
          <p:cNvSpPr/>
          <p:nvPr userDrawn="1"/>
        </p:nvSpPr>
        <p:spPr>
          <a:xfrm>
            <a:off x="0" y="722376"/>
            <a:ext cx="12192000" cy="54132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1882412-D2D4-9CF0-CD39-2EAE79B8A310}"/>
              </a:ext>
            </a:extLst>
          </p:cNvPr>
          <p:cNvCxnSpPr>
            <a:cxnSpLocks/>
          </p:cNvCxnSpPr>
          <p:nvPr userDrawn="1"/>
        </p:nvCxnSpPr>
        <p:spPr>
          <a:xfrm>
            <a:off x="4267200" y="2523744"/>
            <a:ext cx="7924800" cy="883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229B6F2-011B-853F-5BA1-FA1722B6E1C8}"/>
              </a:ext>
            </a:extLst>
          </p:cNvPr>
          <p:cNvCxnSpPr>
            <a:cxnSpLocks/>
          </p:cNvCxnSpPr>
          <p:nvPr userDrawn="1"/>
        </p:nvCxnSpPr>
        <p:spPr>
          <a:xfrm>
            <a:off x="723384" y="2523744"/>
            <a:ext cx="3543816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</p:spPr>
        <p:txBody>
          <a:bodyPr/>
          <a:lstStyle>
            <a:lvl1pPr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6208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401568"/>
            <a:ext cx="5111496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401568"/>
            <a:ext cx="5111496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89611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 ligh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2C33EA-A741-FA13-451C-6F35902CBDD0}"/>
              </a:ext>
            </a:extLst>
          </p:cNvPr>
          <p:cNvSpPr/>
          <p:nvPr userDrawn="1"/>
        </p:nvSpPr>
        <p:spPr>
          <a:xfrm>
            <a:off x="0" y="722376"/>
            <a:ext cx="12192000" cy="54132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</p:spPr>
        <p:txBody>
          <a:bodyPr/>
          <a:lstStyle>
            <a:lvl1pPr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6208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401568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401568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ED40495-D9DB-AA87-4474-68DA5D8CA88C}"/>
              </a:ext>
            </a:extLst>
          </p:cNvPr>
          <p:cNvGrpSpPr/>
          <p:nvPr userDrawn="1"/>
        </p:nvGrpSpPr>
        <p:grpSpPr>
          <a:xfrm rot="10800000">
            <a:off x="726958" y="2521655"/>
            <a:ext cx="11480808" cy="1"/>
            <a:chOff x="2077471" y="5539116"/>
            <a:chExt cx="11480808" cy="1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15A6649-BE77-6F3F-DF74-0045E0AC6025}"/>
                </a:ext>
              </a:extLst>
            </p:cNvPr>
            <p:cNvCxnSpPr>
              <a:cxnSpLocks/>
            </p:cNvCxnSpPr>
            <p:nvPr/>
          </p:nvCxnSpPr>
          <p:spPr>
            <a:xfrm>
              <a:off x="2077471" y="5539116"/>
              <a:ext cx="4755396" cy="0"/>
            </a:xfrm>
            <a:prstGeom prst="line">
              <a:avLst/>
            </a:prstGeom>
            <a:ln w="571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EF33DD1-C51F-9BE1-2F97-D4025B3E653D}"/>
                </a:ext>
              </a:extLst>
            </p:cNvPr>
            <p:cNvCxnSpPr>
              <a:cxnSpLocks/>
            </p:cNvCxnSpPr>
            <p:nvPr/>
          </p:nvCxnSpPr>
          <p:spPr>
            <a:xfrm>
              <a:off x="6816103" y="5539117"/>
              <a:ext cx="6742176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05874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dark ban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966E69F-7113-AC99-F7E1-A44B7D64DEF3}"/>
              </a:ext>
            </a:extLst>
          </p:cNvPr>
          <p:cNvSpPr/>
          <p:nvPr userDrawn="1"/>
        </p:nvSpPr>
        <p:spPr>
          <a:xfrm>
            <a:off x="0" y="0"/>
            <a:ext cx="12192000" cy="304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</p:spPr>
        <p:txBody>
          <a:bodyPr/>
          <a:lstStyle>
            <a:lvl1pPr>
              <a:defRPr sz="5000">
                <a:solidFill>
                  <a:schemeClr val="accent5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3483864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931920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931920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F8CCEDA-D691-A48A-BAAF-D004EBE38E55}"/>
              </a:ext>
            </a:extLst>
          </p:cNvPr>
          <p:cNvGrpSpPr/>
          <p:nvPr userDrawn="1"/>
        </p:nvGrpSpPr>
        <p:grpSpPr>
          <a:xfrm rot="16200000" flipV="1">
            <a:off x="8764091" y="3943349"/>
            <a:ext cx="5829301" cy="0"/>
            <a:chOff x="2287349" y="55407920"/>
            <a:chExt cx="11160369" cy="0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605A0EB-A31A-D2D4-5671-D1F763493E1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934529" y="51760740"/>
              <a:ext cx="0" cy="729436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FEFE03D-E00E-B4FD-6765-44E55D5FA21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1514714" y="53474916"/>
              <a:ext cx="0" cy="3866008"/>
            </a:xfrm>
            <a:prstGeom prst="line">
              <a:avLst/>
            </a:prstGeom>
            <a:ln w="444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36280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on the lef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F5A1967-7F8F-319E-2E67-BD9E4F074B05}"/>
              </a:ext>
            </a:extLst>
          </p:cNvPr>
          <p:cNvSpPr/>
          <p:nvPr userDrawn="1"/>
        </p:nvSpPr>
        <p:spPr>
          <a:xfrm>
            <a:off x="8115301" y="0"/>
            <a:ext cx="407669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>
              <a:solidFill>
                <a:schemeClr val="bg2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2425424-7549-BE00-EA05-384DBD00F3B2}"/>
              </a:ext>
            </a:extLst>
          </p:cNvPr>
          <p:cNvGrpSpPr/>
          <p:nvPr userDrawn="1"/>
        </p:nvGrpSpPr>
        <p:grpSpPr>
          <a:xfrm>
            <a:off x="6317679" y="4564864"/>
            <a:ext cx="5858373" cy="385"/>
            <a:chOff x="5440605" y="5540787"/>
            <a:chExt cx="5858373" cy="385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D88329B-DC1A-F93F-7A3A-84FDE2989BB6}"/>
                </a:ext>
              </a:extLst>
            </p:cNvPr>
            <p:cNvCxnSpPr>
              <a:cxnSpLocks/>
            </p:cNvCxnSpPr>
            <p:nvPr/>
          </p:nvCxnSpPr>
          <p:spPr>
            <a:xfrm>
              <a:off x="5440605" y="5541172"/>
              <a:ext cx="1797621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7690B71-E252-7020-6DC7-F643767B2B78}"/>
                </a:ext>
              </a:extLst>
            </p:cNvPr>
            <p:cNvCxnSpPr>
              <a:cxnSpLocks/>
            </p:cNvCxnSpPr>
            <p:nvPr/>
          </p:nvCxnSpPr>
          <p:spPr>
            <a:xfrm>
              <a:off x="7237724" y="5540787"/>
              <a:ext cx="4061254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0" y="2514600"/>
            <a:ext cx="4846320" cy="1682749"/>
          </a:xfrm>
        </p:spPr>
        <p:txBody>
          <a:bodyPr/>
          <a:lstStyle>
            <a:lvl1pPr>
              <a:lnSpc>
                <a:spcPct val="100000"/>
              </a:lnSpc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936" y="1252728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0936" y="3584448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179222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5760" y="4123944"/>
            <a:ext cx="4754880" cy="941831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93287C28-1CA8-AEA5-1E16-BC0B1E99CD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936" y="5065776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19920C32-5167-72B1-7B9E-709723F907C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65760" y="5605272"/>
            <a:ext cx="4754880" cy="1143254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75982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on the r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5F7D9D8-A960-E038-84D2-764C7A50F698}"/>
              </a:ext>
            </a:extLst>
          </p:cNvPr>
          <p:cNvSpPr/>
          <p:nvPr userDrawn="1"/>
        </p:nvSpPr>
        <p:spPr>
          <a:xfrm>
            <a:off x="-12700" y="858"/>
            <a:ext cx="3060700" cy="685714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399032"/>
            <a:ext cx="4846320" cy="1682749"/>
          </a:xfrm>
        </p:spPr>
        <p:txBody>
          <a:bodyPr/>
          <a:lstStyle>
            <a:lvl1pPr>
              <a:lnSpc>
                <a:spcPct val="80000"/>
              </a:lnSpc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45352" y="1252728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45352" y="3502152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89320" y="179222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89320" y="394106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0DF3371-342F-C17D-5A7F-EF76E89A55C5}"/>
              </a:ext>
            </a:extLst>
          </p:cNvPr>
          <p:cNvGrpSpPr/>
          <p:nvPr userDrawn="1"/>
        </p:nvGrpSpPr>
        <p:grpSpPr>
          <a:xfrm>
            <a:off x="-11882" y="3045007"/>
            <a:ext cx="4279082" cy="364"/>
            <a:chOff x="5475479" y="5537794"/>
            <a:chExt cx="4279082" cy="364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4369914-5489-3EA1-5419-F83F6C7A150D}"/>
                </a:ext>
              </a:extLst>
            </p:cNvPr>
            <p:cNvCxnSpPr>
              <a:cxnSpLocks/>
            </p:cNvCxnSpPr>
            <p:nvPr/>
          </p:nvCxnSpPr>
          <p:spPr>
            <a:xfrm>
              <a:off x="5475479" y="5537976"/>
              <a:ext cx="3060700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BDE23CC-0B75-F3A6-1882-265BF90D4A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37690" y="5537794"/>
              <a:ext cx="1216871" cy="364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90977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on the right dark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749AEB6-4539-A203-D085-8EBE329C08E0}"/>
              </a:ext>
            </a:extLst>
          </p:cNvPr>
          <p:cNvSpPr/>
          <p:nvPr userDrawn="1"/>
        </p:nvSpPr>
        <p:spPr>
          <a:xfrm>
            <a:off x="3962399" y="858"/>
            <a:ext cx="8271641" cy="68571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399032"/>
            <a:ext cx="4846320" cy="1682749"/>
          </a:xfrm>
        </p:spPr>
        <p:txBody>
          <a:bodyPr/>
          <a:lstStyle>
            <a:lvl1pPr>
              <a:lnSpc>
                <a:spcPct val="80000"/>
              </a:lnSpc>
              <a:defRPr sz="50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45352" y="1353312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accent5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45352" y="3502152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accent5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71032" y="179222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71032" y="394106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D78A0CF-0A37-4436-67C4-B32FD7703E96}"/>
              </a:ext>
            </a:extLst>
          </p:cNvPr>
          <p:cNvGrpSpPr/>
          <p:nvPr userDrawn="1"/>
        </p:nvGrpSpPr>
        <p:grpSpPr>
          <a:xfrm>
            <a:off x="-28308" y="2514621"/>
            <a:ext cx="5666632" cy="0"/>
            <a:chOff x="5464255" y="5541151"/>
            <a:chExt cx="5666632" cy="0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FC6D8A4-CA31-16C2-95B7-B98F65F29A69}"/>
                </a:ext>
              </a:extLst>
            </p:cNvPr>
            <p:cNvCxnSpPr>
              <a:cxnSpLocks/>
            </p:cNvCxnSpPr>
            <p:nvPr/>
          </p:nvCxnSpPr>
          <p:spPr>
            <a:xfrm>
              <a:off x="5464255" y="5541151"/>
              <a:ext cx="3991534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2097A8D-64FC-CDBD-4497-5E32BC6AF9C2}"/>
                </a:ext>
              </a:extLst>
            </p:cNvPr>
            <p:cNvCxnSpPr>
              <a:cxnSpLocks/>
            </p:cNvCxnSpPr>
            <p:nvPr/>
          </p:nvCxnSpPr>
          <p:spPr>
            <a:xfrm>
              <a:off x="9454487" y="5541151"/>
              <a:ext cx="1676400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8193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F6E0F-D722-BAD9-C6AD-9A11DAE47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160B7A-B490-F67E-2740-38CA3A987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14A6C9A-83F0-5E94-8A5B-89CB08282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144" y="1463040"/>
            <a:ext cx="7498080" cy="70408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noProof="0"/>
              <a:t>Click to edit Master title style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2784B99-8374-AA22-4161-578F9BF77E2B}"/>
              </a:ext>
            </a:extLst>
          </p:cNvPr>
          <p:cNvGrpSpPr/>
          <p:nvPr userDrawn="1"/>
        </p:nvGrpSpPr>
        <p:grpSpPr>
          <a:xfrm>
            <a:off x="2400300" y="2535841"/>
            <a:ext cx="9801127" cy="821"/>
            <a:chOff x="2286319" y="5546299"/>
            <a:chExt cx="9801127" cy="903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0F45B19-145D-7398-7A64-A88B28251AAD}"/>
                </a:ext>
              </a:extLst>
            </p:cNvPr>
            <p:cNvCxnSpPr>
              <a:cxnSpLocks/>
            </p:cNvCxnSpPr>
            <p:nvPr/>
          </p:nvCxnSpPr>
          <p:spPr>
            <a:xfrm>
              <a:off x="2286319" y="5546299"/>
              <a:ext cx="7391400" cy="0"/>
            </a:xfrm>
            <a:prstGeom prst="line">
              <a:avLst/>
            </a:prstGeom>
            <a:ln w="571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029EB3C-D7BA-1FCE-3158-8F1116C6F5BE}"/>
                </a:ext>
              </a:extLst>
            </p:cNvPr>
            <p:cNvCxnSpPr>
              <a:cxnSpLocks/>
            </p:cNvCxnSpPr>
            <p:nvPr/>
          </p:nvCxnSpPr>
          <p:spPr>
            <a:xfrm>
              <a:off x="9676016" y="5547202"/>
              <a:ext cx="241143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8F78388-68BC-0124-C243-36D5B5DC78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22576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7FBEF6F-7749-849E-36C5-CC056F3071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22576" y="4443984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A350182-DD59-73E2-C20A-4B5FE67154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020824" y="3401568"/>
            <a:ext cx="8379220" cy="975260"/>
          </a:xfrm>
        </p:spPr>
        <p:txBody>
          <a:bodyPr numCol="2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E14A588-A920-9AE0-A268-A008EAF6FC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20824" y="4901184"/>
            <a:ext cx="8379220" cy="975260"/>
          </a:xfrm>
        </p:spPr>
        <p:txBody>
          <a:bodyPr numCol="2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789022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F6E0F-D722-BAD9-C6AD-9A11DAE47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160B7A-B490-F67E-2740-38CA3A987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14A6C9A-83F0-5E94-8A5B-89CB08282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871708" cy="70408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8F78388-68BC-0124-C243-36D5B5DC78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80944"/>
            <a:ext cx="3282696" cy="110642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7FBEF6F-7749-849E-36C5-CC056F3071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34256" y="2980944"/>
            <a:ext cx="3282696" cy="110642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A350182-DD59-73E2-C20A-4B5FE67154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4114800"/>
            <a:ext cx="3282696" cy="975260"/>
          </a:xfrm>
        </p:spPr>
        <p:txBody>
          <a:bodyPr numCol="1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E14A588-A920-9AE0-A268-A008EAF6FC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05072" y="4114800"/>
            <a:ext cx="3282696" cy="975260"/>
          </a:xfrm>
        </p:spPr>
        <p:txBody>
          <a:bodyPr numCol="1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8221A12-8B19-605A-2244-2D732269C955}"/>
              </a:ext>
            </a:extLst>
          </p:cNvPr>
          <p:cNvGrpSpPr/>
          <p:nvPr userDrawn="1"/>
        </p:nvGrpSpPr>
        <p:grpSpPr>
          <a:xfrm>
            <a:off x="716788" y="2527173"/>
            <a:ext cx="10758424" cy="1564"/>
            <a:chOff x="2792270" y="5541172"/>
            <a:chExt cx="11391900" cy="158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86C500B-5A93-298F-7CEF-ED445452E460}"/>
                </a:ext>
              </a:extLst>
            </p:cNvPr>
            <p:cNvCxnSpPr>
              <a:cxnSpLocks/>
            </p:cNvCxnSpPr>
            <p:nvPr/>
          </p:nvCxnSpPr>
          <p:spPr>
            <a:xfrm>
              <a:off x="2792270" y="5541172"/>
              <a:ext cx="6760464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7A559BC-EF4A-29D4-CF56-6425516A5D91}"/>
                </a:ext>
              </a:extLst>
            </p:cNvPr>
            <p:cNvCxnSpPr>
              <a:cxnSpLocks/>
            </p:cNvCxnSpPr>
            <p:nvPr/>
          </p:nvCxnSpPr>
          <p:spPr>
            <a:xfrm>
              <a:off x="9552734" y="5541330"/>
              <a:ext cx="4631436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D2D34186-8505-57AE-F518-0C83BF1C06C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66176" y="2980944"/>
            <a:ext cx="3282696" cy="110642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ABE767DA-9D93-94AD-D34D-2B8A51A7664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973568" y="4114800"/>
            <a:ext cx="3282696" cy="975260"/>
          </a:xfrm>
        </p:spPr>
        <p:txBody>
          <a:bodyPr numCol="1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814756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AE86B75-C16C-C033-D27D-FF84EFB71131}"/>
              </a:ext>
            </a:extLst>
          </p:cNvPr>
          <p:cNvSpPr/>
          <p:nvPr userDrawn="1"/>
        </p:nvSpPr>
        <p:spPr>
          <a:xfrm>
            <a:off x="0" y="0"/>
            <a:ext cx="100203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31443F-EAC2-06D1-A3D1-D73510EAF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3432" y="1426464"/>
            <a:ext cx="6675120" cy="1702816"/>
          </a:xfrm>
        </p:spPr>
        <p:txBody>
          <a:bodyPr anchor="t"/>
          <a:lstStyle>
            <a:lvl1pPr>
              <a:lnSpc>
                <a:spcPct val="80000"/>
              </a:lnSpc>
              <a:defRPr sz="72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80535FC-1B0E-C4EB-FE55-190522219FEA}"/>
              </a:ext>
            </a:extLst>
          </p:cNvPr>
          <p:cNvGrpSpPr/>
          <p:nvPr userDrawn="1"/>
        </p:nvGrpSpPr>
        <p:grpSpPr>
          <a:xfrm>
            <a:off x="3979533" y="5799270"/>
            <a:ext cx="8212467" cy="0"/>
            <a:chOff x="3733800" y="5537385"/>
            <a:chExt cx="8212467" cy="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CA6B206-18E0-06D2-958F-E859A1428A57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5537385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447EEA7-F856-F6C0-18DD-5D37FD51D45B}"/>
                </a:ext>
              </a:extLst>
            </p:cNvPr>
            <p:cNvCxnSpPr>
              <a:cxnSpLocks/>
            </p:cNvCxnSpPr>
            <p:nvPr/>
          </p:nvCxnSpPr>
          <p:spPr>
            <a:xfrm>
              <a:off x="9774567" y="5537385"/>
              <a:ext cx="217170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9C909AE-4D54-F197-103E-29E9C2597F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77056" y="3383280"/>
            <a:ext cx="4754880" cy="2057400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 marL="0" indent="0">
              <a:lnSpc>
                <a:spcPct val="150000"/>
              </a:lnSpc>
              <a:spcBef>
                <a:spcPts val="0"/>
              </a:spcBef>
              <a:buNone/>
              <a:defRPr sz="2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525968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C28C00-D101-DFF8-7E0A-1AEBF0DBE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4C5F1F-F8B7-6C5F-6A7F-5F8F6128A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9287E-E726-E0E6-2871-FE77159B5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60592E8-155C-36FA-DA0A-52B23CE8A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57633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64B432-06C2-E932-E96F-67CECC2E9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1F3471-B7F6-01DB-D712-136C1626D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05956-4CA5-988F-7C93-317A88D12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8561461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B670E-478C-D301-FCE5-E83002469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B16CD-30BD-156F-11B4-9CF89A064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3C54B0-9878-1911-8DE9-EC464D2027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6493B1-79A4-1FA9-B462-853856DE8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7EEE8-8F1E-8F14-E2ED-333A1FF24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DFABEB-B6B7-2591-AE85-265A3F873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0623095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52A6A-C17E-2616-3199-C8D78E7EE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705714-E101-08DD-6A13-D561A3EC2C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6ECB26-D659-5BC3-C669-1B45225D27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464F27-6C3B-1E36-B1DC-ECB72DCF2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C595AB-D292-D355-47CD-748C160B1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1CEE5F-F44A-DD2C-EEC3-D4C76B69D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752938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6BC278-3A9A-4241-1DE5-469D2AB5E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367"/>
            <a:ext cx="10515600" cy="57532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A5E58-5605-E2B6-AEBE-7EF159AAD7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1D507-72FD-CB53-B342-C69D562AFD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A3E9A7-861F-C5C4-DD4E-37AC66D867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1480" y="301752"/>
            <a:ext cx="182880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en-P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7A1DC-56B8-6C78-5020-E45478D099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35068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51" r:id="rId3"/>
    <p:sldLayoutId id="2147483660" r:id="rId4"/>
    <p:sldLayoutId id="2147483661" r:id="rId5"/>
    <p:sldLayoutId id="2147483665" r:id="rId6"/>
    <p:sldLayoutId id="2147483662" r:id="rId7"/>
    <p:sldLayoutId id="2147483664" r:id="rId8"/>
    <p:sldLayoutId id="2147483663" r:id="rId9"/>
    <p:sldLayoutId id="2147483652" r:id="rId10"/>
    <p:sldLayoutId id="2147483666" r:id="rId11"/>
    <p:sldLayoutId id="2147483658" r:id="rId12"/>
    <p:sldLayoutId id="2147483654" r:id="rId13"/>
    <p:sldLayoutId id="2147483655" r:id="rId14"/>
    <p:sldLayoutId id="2147483656" r:id="rId15"/>
    <p:sldLayoutId id="2147483657" r:id="rId16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logos-world.net/ups-logo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conestoga-bookshelf.vitalsource.com/books/9780136971627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04B07C7A-8E1D-7BF7-31C8-5C68C6D2F9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66463" y="1153746"/>
            <a:ext cx="6137253" cy="913048"/>
          </a:xfrm>
        </p:spPr>
        <p:txBody>
          <a:bodyPr>
            <a:noAutofit/>
          </a:bodyPr>
          <a:lstStyle/>
          <a:p>
            <a:r>
              <a:rPr lang="en-US" sz="6000" dirty="0">
                <a:solidFill>
                  <a:schemeClr val="accent5"/>
                </a:solidFill>
              </a:rPr>
              <a:t>Case Study</a:t>
            </a:r>
            <a:br>
              <a:rPr lang="en-US" sz="6000" dirty="0">
                <a:solidFill>
                  <a:schemeClr val="accent5"/>
                </a:solidFill>
              </a:rPr>
            </a:br>
            <a:br>
              <a:rPr lang="en-US" sz="6000" dirty="0">
                <a:solidFill>
                  <a:schemeClr val="accent5"/>
                </a:solidFill>
              </a:rPr>
            </a:br>
            <a:endParaRPr lang="en-US" sz="6000" dirty="0">
              <a:solidFill>
                <a:schemeClr val="accent5"/>
              </a:solidFill>
            </a:endParaRPr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EF3A7BFE-9123-98C4-791C-9A3FE773CF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95761" y="5411634"/>
            <a:ext cx="8346500" cy="384048"/>
          </a:xfrm>
        </p:spPr>
        <p:txBody>
          <a:bodyPr/>
          <a:lstStyle/>
          <a:p>
            <a:r>
              <a:rPr lang="en-US" sz="2000" dirty="0">
                <a:solidFill>
                  <a:schemeClr val="bg2"/>
                </a:solidFill>
              </a:rPr>
              <a:t>Alan Daniel Wilson, Mohana Dutta, </a:t>
            </a:r>
            <a:r>
              <a:rPr lang="en-US" sz="2000" dirty="0" err="1">
                <a:solidFill>
                  <a:schemeClr val="bg2"/>
                </a:solidFill>
              </a:rPr>
              <a:t>Saikumar</a:t>
            </a:r>
            <a:r>
              <a:rPr lang="en-US" sz="2000" dirty="0">
                <a:solidFill>
                  <a:schemeClr val="bg2"/>
                </a:solidFill>
              </a:rPr>
              <a:t> </a:t>
            </a:r>
            <a:r>
              <a:rPr lang="en-US" sz="2000" dirty="0" err="1">
                <a:solidFill>
                  <a:schemeClr val="bg2"/>
                </a:solidFill>
              </a:rPr>
              <a:t>Eddandi</a:t>
            </a:r>
            <a:r>
              <a:rPr lang="en-US" sz="2000" dirty="0">
                <a:solidFill>
                  <a:schemeClr val="bg2"/>
                </a:solidFill>
              </a:rPr>
              <a:t>, Ya-</a:t>
            </a:r>
            <a:r>
              <a:rPr lang="en-US" sz="2000" dirty="0" err="1">
                <a:solidFill>
                  <a:schemeClr val="bg2"/>
                </a:solidFill>
              </a:rPr>
              <a:t>Jwu</a:t>
            </a:r>
            <a:r>
              <a:rPr lang="en-US" sz="2000" dirty="0">
                <a:solidFill>
                  <a:schemeClr val="bg2"/>
                </a:solidFill>
              </a:rPr>
              <a:t> Jang</a:t>
            </a:r>
            <a:endParaRPr lang="en-PK" sz="2000" dirty="0">
              <a:solidFill>
                <a:schemeClr val="bg2"/>
              </a:solidFill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E6A10E4-753D-4D96-3021-24E2BC476863}"/>
              </a:ext>
            </a:extLst>
          </p:cNvPr>
          <p:cNvSpPr txBox="1"/>
          <p:nvPr/>
        </p:nvSpPr>
        <p:spPr>
          <a:xfrm>
            <a:off x="3544867" y="2517732"/>
            <a:ext cx="81920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chemeClr val="bg1"/>
                </a:solidFill>
              </a:rPr>
              <a:t>New Technology at UPS Clashes with Outdated Ways of Working</a:t>
            </a:r>
            <a:endParaRPr kumimoji="1" lang="zh-TW" altLang="en-US" sz="3600" dirty="0">
              <a:solidFill>
                <a:schemeClr val="bg1"/>
              </a:solidFill>
            </a:endParaRPr>
          </a:p>
        </p:txBody>
      </p:sp>
      <p:pic>
        <p:nvPicPr>
          <p:cNvPr id="4" name="Picture 3" descr="A yellow and brown logo&#10;&#10;Description automatically generated">
            <a:extLst>
              <a:ext uri="{FF2B5EF4-FFF2-40B4-BE49-F238E27FC236}">
                <a16:creationId xmlns:a16="http://schemas.microsoft.com/office/drawing/2014/main" id="{9EC0605A-664D-AF60-4A57-34B43E8E8B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4444" y="2350097"/>
            <a:ext cx="2571317" cy="1446366"/>
          </a:xfrm>
          <a:prstGeom prst="rect">
            <a:avLst/>
          </a:prstGeom>
        </p:spPr>
      </p:pic>
      <p:sp>
        <p:nvSpPr>
          <p:cNvPr id="5" name="Subtitle 10">
            <a:extLst>
              <a:ext uri="{FF2B5EF4-FFF2-40B4-BE49-F238E27FC236}">
                <a16:creationId xmlns:a16="http://schemas.microsoft.com/office/drawing/2014/main" id="{EA8058D0-49BB-3D96-DFA1-B4AC72EB5493}"/>
              </a:ext>
            </a:extLst>
          </p:cNvPr>
          <p:cNvSpPr txBox="1">
            <a:spLocks/>
          </p:cNvSpPr>
          <p:nvPr/>
        </p:nvSpPr>
        <p:spPr>
          <a:xfrm>
            <a:off x="3895761" y="5096718"/>
            <a:ext cx="8346500" cy="3840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bg2"/>
                </a:solidFill>
              </a:rPr>
              <a:t>Group 1</a:t>
            </a:r>
            <a:endParaRPr lang="en-PK" sz="2000" dirty="0">
              <a:solidFill>
                <a:schemeClr val="bg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2D345E-F972-26C9-5121-EC0D96420B6D}"/>
              </a:ext>
            </a:extLst>
          </p:cNvPr>
          <p:cNvSpPr txBox="1"/>
          <p:nvPr/>
        </p:nvSpPr>
        <p:spPr>
          <a:xfrm>
            <a:off x="6404811" y="6396335"/>
            <a:ext cx="57871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b="0" i="0" dirty="0">
                <a:solidFill>
                  <a:schemeClr val="accent6"/>
                </a:solidFill>
                <a:effectLst/>
                <a:latin typeface="Roboto" panose="02000000000000000000" pitchFamily="2" charset="0"/>
              </a:rPr>
              <a:t>(UPS. 2024. UPS logo</a:t>
            </a:r>
            <a:r>
              <a:rPr lang="en-US" dirty="0">
                <a:solidFill>
                  <a:schemeClr val="accent6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https://logos-world.net/ups-logo/</a:t>
            </a:r>
            <a:r>
              <a:rPr lang="en-IN" b="0" i="0" dirty="0">
                <a:solidFill>
                  <a:schemeClr val="accent6"/>
                </a:solidFill>
                <a:effectLst/>
                <a:latin typeface="Roboto" panose="02000000000000000000" pitchFamily="2" charset="0"/>
              </a:rPr>
              <a:t>)</a:t>
            </a:r>
            <a:endParaRPr lang="en-IN" dirty="0">
              <a:solidFill>
                <a:schemeClr val="accent6"/>
              </a:solidFill>
            </a:endParaRPr>
          </a:p>
          <a:p>
            <a:endParaRPr lang="en-IN" dirty="0">
              <a:solidFill>
                <a:schemeClr val="accent6"/>
              </a:solidFill>
            </a:endParaRPr>
          </a:p>
          <a:p>
            <a:endParaRPr lang="en-IN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3103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尾版面配置區 1">
            <a:extLst>
              <a:ext uri="{FF2B5EF4-FFF2-40B4-BE49-F238E27FC236}">
                <a16:creationId xmlns:a16="http://schemas.microsoft.com/office/drawing/2014/main" id="{CB348431-636B-2377-9D0D-64008D05B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dirty="0"/>
              <a:t>UPS Case Study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CAB3E90-088C-3E3E-02D6-1EB88D22C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2</a:t>
            </a:fld>
            <a:endParaRPr lang="en-US" noProof="0"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924FA6B7-530C-DDA2-BED0-3A48909F6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042" y="2425688"/>
            <a:ext cx="4846320" cy="1682749"/>
          </a:xfrm>
        </p:spPr>
        <p:txBody>
          <a:bodyPr/>
          <a:lstStyle/>
          <a:p>
            <a:r>
              <a:rPr kumimoji="1" lang="en-US" altLang="zh-TW" dirty="0"/>
              <a:t>Agenda</a:t>
            </a:r>
            <a:endParaRPr kumimoji="1" lang="zh-TW" altLang="en-US" dirty="0"/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4B98A668-7A43-5ED9-D4DB-13FD34EF61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04403" y="3851557"/>
            <a:ext cx="8270555" cy="2288894"/>
          </a:xfrm>
        </p:spPr>
        <p:txBody>
          <a:bodyPr/>
          <a:lstStyle/>
          <a:p>
            <a:r>
              <a:rPr kumimoji="1" lang="en-US" altLang="zh-TW" sz="2000" dirty="0"/>
              <a:t>Identify</a:t>
            </a:r>
            <a:r>
              <a:rPr kumimoji="1" lang="zh-TW" altLang="en-US" sz="2000" dirty="0"/>
              <a:t> </a:t>
            </a:r>
            <a:r>
              <a:rPr kumimoji="1" lang="en-US" altLang="zh-TW" sz="2000" dirty="0"/>
              <a:t>the</a:t>
            </a:r>
            <a:r>
              <a:rPr kumimoji="1" lang="zh-TW" altLang="en-US" sz="2000" dirty="0"/>
              <a:t> </a:t>
            </a:r>
            <a:r>
              <a:rPr kumimoji="1" lang="en-US" altLang="zh-TW" sz="2000" dirty="0"/>
              <a:t>problems</a:t>
            </a:r>
            <a:r>
              <a:rPr kumimoji="1" lang="zh-TW" altLang="en-US" sz="2000" dirty="0"/>
              <a:t> </a:t>
            </a:r>
            <a:r>
              <a:rPr kumimoji="1" lang="en-US" altLang="zh-TW" sz="2000" dirty="0"/>
              <a:t>UPS</a:t>
            </a:r>
            <a:r>
              <a:rPr kumimoji="1" lang="zh-TW" altLang="en-US" sz="2000" dirty="0"/>
              <a:t> </a:t>
            </a:r>
            <a:r>
              <a:rPr kumimoji="1" lang="en-US" altLang="zh-TW" sz="2000" dirty="0"/>
              <a:t>faced</a:t>
            </a:r>
          </a:p>
          <a:p>
            <a:r>
              <a:rPr kumimoji="1" lang="en-US" altLang="zh-TW" sz="2000" dirty="0"/>
              <a:t>What</a:t>
            </a:r>
            <a:r>
              <a:rPr kumimoji="1" lang="zh-TW" altLang="en-US" sz="2000" dirty="0"/>
              <a:t> </a:t>
            </a:r>
            <a:r>
              <a:rPr kumimoji="1" lang="en-US" altLang="zh-TW" sz="2000" dirty="0"/>
              <a:t>solution</a:t>
            </a:r>
            <a:r>
              <a:rPr kumimoji="1" lang="zh-TW" altLang="en-US" sz="2000" dirty="0"/>
              <a:t> </a:t>
            </a:r>
            <a:r>
              <a:rPr kumimoji="1" lang="en-US" altLang="zh-TW" sz="2000" dirty="0"/>
              <a:t>did</a:t>
            </a:r>
            <a:r>
              <a:rPr kumimoji="1" lang="zh-TW" altLang="en-US" sz="2000" dirty="0"/>
              <a:t> </a:t>
            </a:r>
            <a:r>
              <a:rPr kumimoji="1" lang="en-US" altLang="zh-TW" sz="2000" dirty="0"/>
              <a:t>UPS</a:t>
            </a:r>
            <a:r>
              <a:rPr kumimoji="1" lang="zh-TW" altLang="en-US" sz="2000" dirty="0"/>
              <a:t> </a:t>
            </a:r>
            <a:r>
              <a:rPr kumimoji="1" lang="en-US" altLang="zh-TW" sz="2000" dirty="0"/>
              <a:t>use</a:t>
            </a:r>
            <a:r>
              <a:rPr kumimoji="1" lang="zh-TW" altLang="en-US" sz="2000" dirty="0"/>
              <a:t> </a:t>
            </a:r>
            <a:r>
              <a:rPr kumimoji="1" lang="en-US" altLang="zh-TW" sz="2000" dirty="0"/>
              <a:t>to</a:t>
            </a:r>
            <a:r>
              <a:rPr kumimoji="1" lang="zh-TW" altLang="en-US" sz="2000" dirty="0"/>
              <a:t> </a:t>
            </a:r>
            <a:r>
              <a:rPr kumimoji="1" lang="en-US" altLang="zh-TW" sz="2000" dirty="0"/>
              <a:t>solve</a:t>
            </a:r>
            <a:r>
              <a:rPr kumimoji="1" lang="zh-TW" altLang="en-US" sz="2000" dirty="0"/>
              <a:t> </a:t>
            </a:r>
            <a:r>
              <a:rPr kumimoji="1" lang="en-US" altLang="zh-TW" sz="2000" dirty="0"/>
              <a:t>the</a:t>
            </a:r>
            <a:r>
              <a:rPr kumimoji="1" lang="zh-TW" altLang="en-US" sz="2000" dirty="0"/>
              <a:t> </a:t>
            </a:r>
            <a:r>
              <a:rPr kumimoji="1" lang="en-US" altLang="zh-TW" sz="2000" dirty="0"/>
              <a:t>problems</a:t>
            </a:r>
          </a:p>
          <a:p>
            <a:r>
              <a:rPr kumimoji="1" lang="en-US" altLang="zh-TW" sz="2000" dirty="0"/>
              <a:t>Diagrams</a:t>
            </a:r>
            <a:r>
              <a:rPr kumimoji="1" lang="zh-TW" altLang="en-US" sz="2000" dirty="0"/>
              <a:t> </a:t>
            </a:r>
            <a:r>
              <a:rPr kumimoji="1" lang="en-US" altLang="zh-TW" sz="2000" dirty="0"/>
              <a:t>of</a:t>
            </a:r>
            <a:r>
              <a:rPr kumimoji="1" lang="zh-TW" altLang="en-US" sz="2000" dirty="0"/>
              <a:t> </a:t>
            </a:r>
            <a:r>
              <a:rPr kumimoji="1" lang="en-US" altLang="zh-TW" sz="2000" dirty="0"/>
              <a:t>the</a:t>
            </a:r>
            <a:r>
              <a:rPr kumimoji="1" lang="zh-TW" altLang="en-US" sz="2000" dirty="0"/>
              <a:t> </a:t>
            </a:r>
            <a:r>
              <a:rPr kumimoji="1" lang="en-US" altLang="zh-TW" sz="2000" dirty="0"/>
              <a:t>before</a:t>
            </a:r>
            <a:r>
              <a:rPr kumimoji="1" lang="zh-TW" altLang="en-US" sz="2000" dirty="0"/>
              <a:t> </a:t>
            </a:r>
            <a:r>
              <a:rPr kumimoji="1" lang="en-US" altLang="zh-TW" sz="2000" dirty="0"/>
              <a:t>and</a:t>
            </a:r>
            <a:r>
              <a:rPr kumimoji="1" lang="zh-TW" altLang="en-US" sz="2000" dirty="0"/>
              <a:t> </a:t>
            </a:r>
            <a:r>
              <a:rPr kumimoji="1" lang="en-US" altLang="zh-TW" sz="2000" dirty="0"/>
              <a:t>after</a:t>
            </a:r>
            <a:r>
              <a:rPr kumimoji="1" lang="zh-TW" altLang="en-US" sz="2000" dirty="0"/>
              <a:t> </a:t>
            </a:r>
            <a:r>
              <a:rPr kumimoji="1" lang="en-US" altLang="zh-TW" sz="2000" dirty="0"/>
              <a:t>package</a:t>
            </a:r>
            <a:r>
              <a:rPr kumimoji="1" lang="zh-TW" altLang="en-US" sz="2000" dirty="0"/>
              <a:t> </a:t>
            </a:r>
            <a:r>
              <a:rPr kumimoji="1" lang="en-US" altLang="zh-TW" sz="2000" dirty="0"/>
              <a:t>process</a:t>
            </a:r>
          </a:p>
          <a:p>
            <a:r>
              <a:rPr kumimoji="1" lang="en-US" altLang="zh-TW" sz="2000" dirty="0"/>
              <a:t>How</a:t>
            </a:r>
            <a:r>
              <a:rPr kumimoji="1" lang="zh-TW" altLang="en-US" sz="2000" dirty="0"/>
              <a:t> </a:t>
            </a:r>
            <a:r>
              <a:rPr kumimoji="1" lang="en-US" altLang="zh-TW" sz="2000" dirty="0"/>
              <a:t>did</a:t>
            </a:r>
            <a:r>
              <a:rPr kumimoji="1" lang="zh-TW" altLang="en-US" sz="2000" dirty="0"/>
              <a:t> </a:t>
            </a:r>
            <a:r>
              <a:rPr kumimoji="1" lang="en-US" altLang="zh-TW" sz="2000" dirty="0"/>
              <a:t>automated</a:t>
            </a:r>
            <a:r>
              <a:rPr kumimoji="1" lang="zh-TW" altLang="en-US" sz="2000" dirty="0"/>
              <a:t> </a:t>
            </a:r>
            <a:r>
              <a:rPr kumimoji="1" lang="en-US" altLang="zh-TW" sz="2000" dirty="0"/>
              <a:t>influence</a:t>
            </a:r>
            <a:r>
              <a:rPr kumimoji="1" lang="zh-TW" altLang="en-US" sz="2000" dirty="0"/>
              <a:t> </a:t>
            </a:r>
            <a:r>
              <a:rPr kumimoji="1" lang="en-US" altLang="zh-TW" sz="2000" dirty="0"/>
              <a:t>UPS’s</a:t>
            </a:r>
            <a:r>
              <a:rPr kumimoji="1" lang="zh-TW" altLang="en-US" sz="2000" dirty="0"/>
              <a:t> </a:t>
            </a:r>
            <a:r>
              <a:rPr kumimoji="1" lang="en-US" altLang="zh-TW" sz="2000" dirty="0"/>
              <a:t>operation</a:t>
            </a:r>
            <a:r>
              <a:rPr kumimoji="1" lang="zh-TW" altLang="en-US" sz="2000" dirty="0"/>
              <a:t> </a:t>
            </a:r>
            <a:r>
              <a:rPr kumimoji="1" lang="en-US" altLang="zh-TW" sz="2000" dirty="0"/>
              <a:t>and</a:t>
            </a:r>
            <a:r>
              <a:rPr kumimoji="1" lang="zh-TW" altLang="en-US" sz="2000" dirty="0"/>
              <a:t> </a:t>
            </a:r>
            <a:r>
              <a:rPr kumimoji="1" lang="en-US" altLang="zh-TW" sz="2000" dirty="0"/>
              <a:t>decision-making</a:t>
            </a:r>
            <a:endParaRPr kumimoji="1"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68081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2E563-D2B2-A0AD-3574-E8C8FDCE3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83AAE15-CE16-991A-C05F-0BD974181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UPS Case Study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D775342-B398-D058-62EA-D657A2192D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43839" y="1901346"/>
            <a:ext cx="5852161" cy="3683955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2400" b="1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United Parcel Service (UPS) </a:t>
            </a:r>
            <a:r>
              <a:rPr lang="en-US" altLang="zh-TW" sz="20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is globally renowned for its Logistic and Packaging delivery, Perhaps the other competitors like FedEx or Amazon are dominating globally with their advance automation and cutting-edge technology. So, UPS is facing various challenges as they are still depending on the manual process. </a:t>
            </a:r>
            <a:endParaRPr lang="en-US" altLang="zh-TW" sz="2000" b="0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CB66A1BD-2500-AB18-9DCA-0585F33C2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E2CA7D01-14FF-EA44-5C7A-C48660E259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8383" y="3289299"/>
            <a:ext cx="908050" cy="9080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246A424-BB10-64FD-64D1-D9BCA5ECD02F}"/>
              </a:ext>
            </a:extLst>
          </p:cNvPr>
          <p:cNvSpPr txBox="1"/>
          <p:nvPr/>
        </p:nvSpPr>
        <p:spPr>
          <a:xfrm>
            <a:off x="7640054" y="6060831"/>
            <a:ext cx="45519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b="0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Roboto" panose="02000000000000000000" pitchFamily="2" charset="0"/>
              </a:rPr>
              <a:t>(</a:t>
            </a:r>
            <a:r>
              <a:rPr lang="en-IN" b="0" i="0" dirty="0" err="1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Roboto" panose="02000000000000000000" pitchFamily="2" charset="0"/>
              </a:rPr>
              <a:t>Laudon,K</a:t>
            </a:r>
            <a:r>
              <a:rPr lang="en-IN" b="0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Roboto" panose="02000000000000000000" pitchFamily="2" charset="0"/>
              </a:rPr>
              <a:t>, </a:t>
            </a:r>
            <a:r>
              <a:rPr lang="en-IN" b="0" i="0" dirty="0" err="1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Roboto" panose="02000000000000000000" pitchFamily="2" charset="0"/>
              </a:rPr>
              <a:t>Laudon,J</a:t>
            </a:r>
            <a:r>
              <a:rPr lang="en-IN" b="0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Roboto" panose="02000000000000000000" pitchFamily="2" charset="0"/>
              </a:rPr>
              <a:t>.(2021).Para. 4,8,13)</a:t>
            </a:r>
            <a:endParaRPr lang="en-IN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endParaRPr lang="en-IN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endParaRPr lang="en-IN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9074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C85805-79DB-07ED-6BDE-11B8962D4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Problems</a:t>
            </a:r>
            <a:br>
              <a:rPr lang="en-US" sz="4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4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CEA3CB1-AF25-EA4C-A297-4DDC6E0ED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UPS Case Study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3E68DE-3756-7E72-3F5A-34338BB31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4C7CBA-BE77-048A-DED3-BCCB5936C5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3504" y="2841244"/>
            <a:ext cx="3675886" cy="448056"/>
          </a:xfrm>
        </p:spPr>
        <p:txBody>
          <a:bodyPr/>
          <a:lstStyle/>
          <a:p>
            <a:r>
              <a:rPr lang="en-US" sz="2400" dirty="0"/>
              <a:t>Technological Problem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49D3A3-A012-454F-EFFD-30D72C9C8AE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76861" y="3455896"/>
            <a:ext cx="3639312" cy="3200397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30-year-old </a:t>
            </a: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Manual Processes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Inconsistency: </a:t>
            </a:r>
            <a:r>
              <a:rPr lang="en-US" altLang="zh-TW" sz="20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utomated and human intervention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Impact: </a:t>
            </a:r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increased costs and </a:t>
            </a:r>
            <a:r>
              <a:rPr lang="en-US" altLang="zh-TW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onger processing times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02B69-8EDA-C137-FEEF-12D4F89D01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34255" y="2841244"/>
            <a:ext cx="3968495" cy="448056"/>
          </a:xfrm>
        </p:spPr>
        <p:txBody>
          <a:bodyPr/>
          <a:lstStyle/>
          <a:p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Organizational Proble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endParaRPr lang="en-US" sz="24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89074EA-C6FF-2A59-04ED-55D899CA345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05072" y="3455897"/>
            <a:ext cx="3968496" cy="2958350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Workforce Influence: </a:t>
            </a:r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highly </a:t>
            </a:r>
            <a:r>
              <a:rPr lang="en-US" altLang="zh-TW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Influenced </a:t>
            </a:r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 labor unions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Union Concerns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Impact: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slowly upgrading process</a:t>
            </a:r>
            <a:endParaRPr lang="en-US" sz="2000" dirty="0">
              <a:solidFill>
                <a:schemeClr val="tx2"/>
              </a:solidFill>
            </a:endParaRPr>
          </a:p>
          <a:p>
            <a:endParaRPr lang="en-US" sz="20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F6D1492-6808-B064-1F4E-6B49A77CEAE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66176" y="2841244"/>
            <a:ext cx="3675886" cy="448056"/>
          </a:xfrm>
        </p:spPr>
        <p:txBody>
          <a:bodyPr/>
          <a:lstStyle/>
          <a:p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Management Problem</a:t>
            </a:r>
          </a:p>
          <a:p>
            <a:endParaRPr lang="en-US" sz="240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4B14CB4-1193-ED18-7BAA-87DF524040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973567" y="3455896"/>
            <a:ext cx="3968495" cy="2958349"/>
          </a:xfrm>
        </p:spPr>
        <p:txBody>
          <a:bodyPr/>
          <a:lstStyle/>
          <a:p>
            <a:r>
              <a:rPr lang="en-US" sz="2000" b="1" noProof="1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2000" b="1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ore focus on temporary fixes</a:t>
            </a:r>
          </a:p>
          <a:p>
            <a:r>
              <a:rPr lang="en-US" sz="2000" b="1" noProof="1">
                <a:latin typeface="Arial" panose="020B0604020202020204" pitchFamily="34" charset="0"/>
                <a:cs typeface="Arial" panose="020B0604020202020204" pitchFamily="34" charset="0"/>
              </a:rPr>
              <a:t>Profit Balance: </a:t>
            </a:r>
            <a:r>
              <a:rPr lang="en-US" sz="2000" noProof="1">
                <a:latin typeface="Arial" panose="020B0604020202020204" pitchFamily="34" charset="0"/>
                <a:cs typeface="Arial" panose="020B0604020202020204" pitchFamily="34" charset="0"/>
              </a:rPr>
              <a:t>low-margin and </a:t>
            </a:r>
            <a:r>
              <a:rPr lang="en-US" altLang="zh-TW" sz="2000" noProof="1">
                <a:latin typeface="Arial" panose="020B0604020202020204" pitchFamily="34" charset="0"/>
                <a:cs typeface="Arial" panose="020B0604020202020204" pitchFamily="34" charset="0"/>
              </a:rPr>
              <a:t>deliveries </a:t>
            </a:r>
            <a:r>
              <a:rPr lang="en-US" sz="2000" noProof="1">
                <a:latin typeface="Arial" panose="020B0604020202020204" pitchFamily="34" charset="0"/>
                <a:cs typeface="Arial" panose="020B0604020202020204" pitchFamily="34" charset="0"/>
              </a:rPr>
              <a:t>yield</a:t>
            </a:r>
          </a:p>
          <a:p>
            <a:r>
              <a:rPr lang="en-US" sz="2000" b="1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Lack of proactive planning and strategy</a:t>
            </a:r>
          </a:p>
          <a:p>
            <a:endParaRPr lang="en-US" sz="2000" dirty="0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1539C19A-605B-5696-006D-B145DF96C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7114" y="1125728"/>
            <a:ext cx="1041400" cy="1041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AABE88F-F63A-D1DD-4A1B-EF4504078AA9}"/>
              </a:ext>
            </a:extLst>
          </p:cNvPr>
          <p:cNvSpPr txBox="1"/>
          <p:nvPr/>
        </p:nvSpPr>
        <p:spPr>
          <a:xfrm>
            <a:off x="7263059" y="6414245"/>
            <a:ext cx="49369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b="0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Roboto" panose="02000000000000000000" pitchFamily="2" charset="0"/>
              </a:rPr>
              <a:t>(</a:t>
            </a:r>
            <a:r>
              <a:rPr lang="en-IN" b="0" i="0" dirty="0" err="1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Roboto" panose="02000000000000000000" pitchFamily="2" charset="0"/>
              </a:rPr>
              <a:t>Laudon,K</a:t>
            </a:r>
            <a:r>
              <a:rPr lang="en-IN" b="0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Roboto" panose="02000000000000000000" pitchFamily="2" charset="0"/>
              </a:rPr>
              <a:t>, </a:t>
            </a:r>
            <a:r>
              <a:rPr lang="en-IN" b="0" i="0" dirty="0" err="1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Roboto" panose="02000000000000000000" pitchFamily="2" charset="0"/>
              </a:rPr>
              <a:t>Laudon,J</a:t>
            </a:r>
            <a:r>
              <a:rPr lang="en-IN" b="0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Roboto" panose="02000000000000000000" pitchFamily="2" charset="0"/>
              </a:rPr>
              <a:t>.(2021).Para. 2- 13)</a:t>
            </a:r>
            <a:endParaRPr lang="en-IN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endParaRPr lang="en-IN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endParaRPr lang="en-IN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614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91133-2B2D-CB5C-25A3-A6BBC6AC4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/>
              <a:t>solutions</a:t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5C361D4-2114-E276-681B-0EDACAD8E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UPS Case Study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0480BD-3EF5-7A7E-9E81-E73191A1D4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7856" y="5821602"/>
            <a:ext cx="6475117" cy="529942"/>
          </a:xfrm>
        </p:spPr>
        <p:txBody>
          <a:bodyPr/>
          <a:lstStyle/>
          <a:p>
            <a:r>
              <a:rPr lang="en-IN" altLang="zh-TW" sz="20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made a $20 billion investment between 2019 and 2022</a:t>
            </a:r>
            <a:endParaRPr lang="en-US" sz="2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737C8-4322-77C9-4E34-94E5EE136DB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11971" y="3435444"/>
            <a:ext cx="4475182" cy="2294048"/>
          </a:xfrm>
        </p:spPr>
        <p:txBody>
          <a:bodyPr/>
          <a:lstStyle/>
          <a:p>
            <a:r>
              <a:rPr lang="en-IN" altLang="zh-TW" sz="24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Automation</a:t>
            </a:r>
            <a:r>
              <a:rPr lang="zh-TW" altLang="zh-TW" sz="24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zh-TW" sz="2400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altLang="zh-TW" sz="24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Retrofitting Older Facilities</a:t>
            </a:r>
          </a:p>
          <a:p>
            <a:r>
              <a:rPr lang="en-IN" altLang="zh-TW" sz="24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Bluetooth Technology</a:t>
            </a:r>
          </a:p>
          <a:p>
            <a:r>
              <a:rPr lang="en-IN" altLang="zh-TW" sz="24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Data Utilization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AACD48-B184-C932-E41F-216DF4C1A5B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63259" y="3727207"/>
            <a:ext cx="6032501" cy="1710522"/>
          </a:xfrm>
        </p:spPr>
        <p:txBody>
          <a:bodyPr/>
          <a:lstStyle/>
          <a:p>
            <a:r>
              <a:rPr lang="en-US" altLang="zh-TW" sz="2400" b="1" dirty="0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R</a:t>
            </a:r>
            <a:r>
              <a:rPr lang="en-IN" altLang="zh-TW" sz="2400" b="1" dirty="0" err="1">
                <a:effectLst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emoving</a:t>
            </a:r>
            <a:r>
              <a:rPr lang="en-IN" altLang="zh-TW" sz="2400" b="1" dirty="0">
                <a:effectLst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 bottlenecks</a:t>
            </a:r>
          </a:p>
          <a:p>
            <a:r>
              <a:rPr lang="en-US" altLang="zh-TW" sz="2400" b="1" dirty="0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M</a:t>
            </a:r>
            <a:r>
              <a:rPr lang="en-IN" altLang="zh-TW" sz="2400" b="1" dirty="0" err="1">
                <a:effectLst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inimizing</a:t>
            </a:r>
            <a:r>
              <a:rPr lang="en-IN" altLang="zh-TW" sz="2400" b="1" dirty="0">
                <a:effectLst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 errors</a:t>
            </a:r>
          </a:p>
          <a:p>
            <a:r>
              <a:rPr lang="en-US" altLang="zh-TW" sz="2400" b="1" dirty="0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I</a:t>
            </a:r>
            <a:r>
              <a:rPr lang="en-IN" altLang="zh-TW" sz="2400" b="1" dirty="0" err="1">
                <a:effectLst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mproving</a:t>
            </a:r>
            <a:r>
              <a:rPr lang="en-IN" altLang="zh-TW" sz="2400" b="1" dirty="0">
                <a:effectLst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 overall customer pleasure</a:t>
            </a:r>
            <a:endParaRPr lang="en-US" sz="24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8FC4DAD-8F22-40DC-8133-22BF52217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14BCE158-7569-F751-A0F1-80B52DA442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8181" y="4255443"/>
            <a:ext cx="654050" cy="65405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02F0E181-B679-A087-0ECB-18D2882AE0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4739" y="5428712"/>
            <a:ext cx="657861" cy="6578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BA9FB8-E1CC-B7B0-C5A9-4A39552215CC}"/>
              </a:ext>
            </a:extLst>
          </p:cNvPr>
          <p:cNvSpPr txBox="1"/>
          <p:nvPr/>
        </p:nvSpPr>
        <p:spPr>
          <a:xfrm>
            <a:off x="5075200" y="6387352"/>
            <a:ext cx="64751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b="0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Roboto" panose="02000000000000000000" pitchFamily="2" charset="0"/>
              </a:rPr>
              <a:t>(</a:t>
            </a:r>
            <a:r>
              <a:rPr lang="en-IN" b="0" i="0" dirty="0" err="1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Roboto" panose="02000000000000000000" pitchFamily="2" charset="0"/>
              </a:rPr>
              <a:t>Laudon,K</a:t>
            </a:r>
            <a:r>
              <a:rPr lang="en-IN" b="0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Roboto" panose="02000000000000000000" pitchFamily="2" charset="0"/>
              </a:rPr>
              <a:t>, </a:t>
            </a:r>
            <a:r>
              <a:rPr lang="en-IN" b="0" i="0" dirty="0" err="1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Roboto" panose="02000000000000000000" pitchFamily="2" charset="0"/>
              </a:rPr>
              <a:t>Laudon,J</a:t>
            </a:r>
            <a:r>
              <a:rPr lang="en-IN" b="0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Roboto" panose="02000000000000000000" pitchFamily="2" charset="0"/>
              </a:rPr>
              <a:t>.(2021).Para.9,12,14,15,18,19,20)</a:t>
            </a:r>
            <a:endParaRPr lang="en-IN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algn="r"/>
            <a:endParaRPr lang="en-IN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algn="r"/>
            <a:endParaRPr lang="en-IN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1526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20C99C9D-5F28-0614-6C58-7E03BF6343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4922" y="636029"/>
            <a:ext cx="2693431" cy="426290"/>
          </a:xfrm>
        </p:spPr>
        <p:txBody>
          <a:bodyPr/>
          <a:lstStyle/>
          <a:p>
            <a:r>
              <a:rPr lang="en-US" altLang="zh-TW" dirty="0"/>
              <a:t>Before</a:t>
            </a:r>
            <a:r>
              <a:rPr lang="zh-TW" altLang="en-US" dirty="0"/>
              <a:t> </a:t>
            </a:r>
            <a:r>
              <a:rPr lang="en-US" altLang="zh-TW" dirty="0"/>
              <a:t>Automation</a:t>
            </a:r>
            <a:endParaRPr lang="zh-TW" altLang="en-US" dirty="0"/>
          </a:p>
        </p:txBody>
      </p:sp>
      <p:sp>
        <p:nvSpPr>
          <p:cNvPr id="6" name="文字版面配置區 4">
            <a:extLst>
              <a:ext uri="{FF2B5EF4-FFF2-40B4-BE49-F238E27FC236}">
                <a16:creationId xmlns:a16="http://schemas.microsoft.com/office/drawing/2014/main" id="{6A8C7C34-1AB8-820C-33ED-F2E57E35BB77}"/>
              </a:ext>
            </a:extLst>
          </p:cNvPr>
          <p:cNvSpPr txBox="1">
            <a:spLocks/>
          </p:cNvSpPr>
          <p:nvPr/>
        </p:nvSpPr>
        <p:spPr>
          <a:xfrm>
            <a:off x="6096000" y="653493"/>
            <a:ext cx="2693431" cy="4262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After</a:t>
            </a:r>
            <a:r>
              <a:rPr lang="zh-TW" altLang="en-US" dirty="0"/>
              <a:t> </a:t>
            </a:r>
            <a:r>
              <a:rPr lang="en-US" altLang="zh-TW" dirty="0"/>
              <a:t>Automation</a:t>
            </a:r>
            <a:endParaRPr lang="zh-TW" altLang="en-US" dirty="0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B1AB0B9D-E451-2D5B-97B0-4DCC258955BC}"/>
              </a:ext>
            </a:extLst>
          </p:cNvPr>
          <p:cNvSpPr/>
          <p:nvPr/>
        </p:nvSpPr>
        <p:spPr>
          <a:xfrm>
            <a:off x="1067028" y="1274112"/>
            <a:ext cx="1734670" cy="833717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Uploading</a:t>
            </a:r>
            <a:endParaRPr kumimoji="1" lang="zh-TW" altLang="en-US" dirty="0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9286099A-2CC2-2F89-905A-2A7DBEC48C3A}"/>
              </a:ext>
            </a:extLst>
          </p:cNvPr>
          <p:cNvSpPr/>
          <p:nvPr/>
        </p:nvSpPr>
        <p:spPr>
          <a:xfrm>
            <a:off x="3395381" y="2265823"/>
            <a:ext cx="1734670" cy="1223685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Manual</a:t>
            </a:r>
            <a:r>
              <a:rPr kumimoji="1" lang="zh-TW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kumimoji="1" lang="en-US" altLang="zh-TW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Label</a:t>
            </a:r>
            <a:r>
              <a:rPr kumimoji="1" lang="zh-TW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kumimoji="1" lang="en-US" altLang="zh-TW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Alignment</a:t>
            </a:r>
            <a:endParaRPr kumimoji="1" lang="zh-TW" altLang="en-US" dirty="0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2C479F11-4705-D7D8-42F1-FCDD1DE23007}"/>
              </a:ext>
            </a:extLst>
          </p:cNvPr>
          <p:cNvSpPr/>
          <p:nvPr/>
        </p:nvSpPr>
        <p:spPr>
          <a:xfrm>
            <a:off x="910378" y="3583646"/>
            <a:ext cx="1734670" cy="833717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Manual</a:t>
            </a:r>
            <a:r>
              <a:rPr kumimoji="1" lang="zh-TW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kumimoji="1" lang="en-US" altLang="zh-TW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Sorting</a:t>
            </a:r>
            <a:endParaRPr kumimoji="1" lang="zh-TW" altLang="en-US" dirty="0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9A883A98-615A-9A7C-8B46-C96CC24C1872}"/>
              </a:ext>
            </a:extLst>
          </p:cNvPr>
          <p:cNvSpPr/>
          <p:nvPr/>
        </p:nvSpPr>
        <p:spPr>
          <a:xfrm>
            <a:off x="3395381" y="4693012"/>
            <a:ext cx="1734670" cy="833717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Chute</a:t>
            </a:r>
            <a:r>
              <a:rPr kumimoji="1" lang="zh-TW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kumimoji="1" lang="en-US" altLang="zh-TW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Sorting</a:t>
            </a:r>
            <a:endParaRPr kumimoji="1" lang="zh-TW" altLang="en-US" dirty="0"/>
          </a:p>
        </p:txBody>
      </p:sp>
      <p:cxnSp>
        <p:nvCxnSpPr>
          <p:cNvPr id="12" name="肘形接點 11">
            <a:extLst>
              <a:ext uri="{FF2B5EF4-FFF2-40B4-BE49-F238E27FC236}">
                <a16:creationId xmlns:a16="http://schemas.microsoft.com/office/drawing/2014/main" id="{10527DB3-3ED8-F043-42B4-2A86E9BD6052}"/>
              </a:ext>
            </a:extLst>
          </p:cNvPr>
          <p:cNvCxnSpPr>
            <a:cxnSpLocks/>
            <a:stCxn id="7" idx="6"/>
            <a:endCxn id="8" idx="0"/>
          </p:cNvCxnSpPr>
          <p:nvPr/>
        </p:nvCxnSpPr>
        <p:spPr>
          <a:xfrm>
            <a:off x="2801698" y="1690971"/>
            <a:ext cx="1461018" cy="574852"/>
          </a:xfrm>
          <a:prstGeom prst="bentConnector2">
            <a:avLst/>
          </a:prstGeom>
          <a:ln w="38100">
            <a:headEnd type="none" w="med" len="med"/>
            <a:tailEnd type="non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6" name="肘形接點 15">
            <a:extLst>
              <a:ext uri="{FF2B5EF4-FFF2-40B4-BE49-F238E27FC236}">
                <a16:creationId xmlns:a16="http://schemas.microsoft.com/office/drawing/2014/main" id="{63DE148A-9512-E516-B999-CA9CED028B20}"/>
              </a:ext>
            </a:extLst>
          </p:cNvPr>
          <p:cNvCxnSpPr>
            <a:stCxn id="8" idx="2"/>
            <a:endCxn id="9" idx="0"/>
          </p:cNvCxnSpPr>
          <p:nvPr/>
        </p:nvCxnSpPr>
        <p:spPr>
          <a:xfrm rot="10800000" flipV="1">
            <a:off x="1777713" y="2877666"/>
            <a:ext cx="1617668" cy="705980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8" name="肘形接點 17">
            <a:extLst>
              <a:ext uri="{FF2B5EF4-FFF2-40B4-BE49-F238E27FC236}">
                <a16:creationId xmlns:a16="http://schemas.microsoft.com/office/drawing/2014/main" id="{74ACCB2B-4F06-EF1C-A714-053755C1B47A}"/>
              </a:ext>
            </a:extLst>
          </p:cNvPr>
          <p:cNvCxnSpPr>
            <a:stCxn id="9" idx="4"/>
            <a:endCxn id="10" idx="2"/>
          </p:cNvCxnSpPr>
          <p:nvPr/>
        </p:nvCxnSpPr>
        <p:spPr>
          <a:xfrm rot="16200000" flipH="1">
            <a:off x="2240293" y="3954783"/>
            <a:ext cx="692508" cy="1617668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0" name="橢圓 19">
            <a:extLst>
              <a:ext uri="{FF2B5EF4-FFF2-40B4-BE49-F238E27FC236}">
                <a16:creationId xmlns:a16="http://schemas.microsoft.com/office/drawing/2014/main" id="{86AA5D2D-D57A-6061-CC6C-1AD8CDFC64D7}"/>
              </a:ext>
            </a:extLst>
          </p:cNvPr>
          <p:cNvSpPr/>
          <p:nvPr/>
        </p:nvSpPr>
        <p:spPr>
          <a:xfrm>
            <a:off x="6747719" y="1136276"/>
            <a:ext cx="2062340" cy="1223685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Automated</a:t>
            </a:r>
            <a:r>
              <a:rPr kumimoji="1" lang="zh-TW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kumimoji="1" lang="en-US" altLang="zh-TW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Uploading</a:t>
            </a:r>
            <a:endParaRPr kumimoji="1" lang="zh-TW" altLang="en-US" dirty="0"/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13A3BC2F-CF4B-125B-2313-6910E711EED0}"/>
              </a:ext>
            </a:extLst>
          </p:cNvPr>
          <p:cNvSpPr/>
          <p:nvPr/>
        </p:nvSpPr>
        <p:spPr>
          <a:xfrm>
            <a:off x="9403742" y="2359961"/>
            <a:ext cx="1877880" cy="1223685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Automated</a:t>
            </a:r>
            <a:r>
              <a:rPr kumimoji="1" lang="zh-TW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kumimoji="1" lang="en-US" altLang="zh-TW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Scanning</a:t>
            </a:r>
            <a:endParaRPr kumimoji="1" lang="zh-TW" altLang="en-US" dirty="0"/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FD453C52-C2DA-F2C4-8C87-410CBBA7FE85}"/>
              </a:ext>
            </a:extLst>
          </p:cNvPr>
          <p:cNvSpPr/>
          <p:nvPr/>
        </p:nvSpPr>
        <p:spPr>
          <a:xfrm>
            <a:off x="6918739" y="3677784"/>
            <a:ext cx="1891320" cy="833717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Automated</a:t>
            </a:r>
            <a:r>
              <a:rPr kumimoji="1" lang="zh-TW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kumimoji="1" lang="en-US" altLang="zh-TW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Sorting</a:t>
            </a:r>
            <a:endParaRPr kumimoji="1" lang="zh-TW" altLang="en-US" dirty="0"/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708C3736-F266-F7DB-DCF5-83A717CC1D5B}"/>
              </a:ext>
            </a:extLst>
          </p:cNvPr>
          <p:cNvSpPr/>
          <p:nvPr/>
        </p:nvSpPr>
        <p:spPr>
          <a:xfrm>
            <a:off x="9403742" y="4693012"/>
            <a:ext cx="1877880" cy="927855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Automated Chute</a:t>
            </a:r>
            <a:r>
              <a:rPr kumimoji="1" lang="zh-TW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kumimoji="1" lang="en-US" altLang="zh-TW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Sorting</a:t>
            </a:r>
            <a:endParaRPr kumimoji="1" lang="zh-TW" altLang="en-US" dirty="0"/>
          </a:p>
        </p:txBody>
      </p:sp>
      <p:cxnSp>
        <p:nvCxnSpPr>
          <p:cNvPr id="24" name="肘形接點 23">
            <a:extLst>
              <a:ext uri="{FF2B5EF4-FFF2-40B4-BE49-F238E27FC236}">
                <a16:creationId xmlns:a16="http://schemas.microsoft.com/office/drawing/2014/main" id="{4CBFDAE5-E76A-64BE-C564-DA94D341D01A}"/>
              </a:ext>
            </a:extLst>
          </p:cNvPr>
          <p:cNvCxnSpPr>
            <a:cxnSpLocks/>
            <a:stCxn id="20" idx="6"/>
            <a:endCxn id="21" idx="0"/>
          </p:cNvCxnSpPr>
          <p:nvPr/>
        </p:nvCxnSpPr>
        <p:spPr>
          <a:xfrm>
            <a:off x="8810059" y="1748119"/>
            <a:ext cx="1532623" cy="611842"/>
          </a:xfrm>
          <a:prstGeom prst="bentConnector2">
            <a:avLst/>
          </a:prstGeom>
          <a:ln w="38100">
            <a:headEnd type="none" w="med" len="med"/>
            <a:tailEnd type="non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5" name="肘形接點 24">
            <a:extLst>
              <a:ext uri="{FF2B5EF4-FFF2-40B4-BE49-F238E27FC236}">
                <a16:creationId xmlns:a16="http://schemas.microsoft.com/office/drawing/2014/main" id="{D2AE2660-6284-DE30-E3B3-39FC7D6E4E46}"/>
              </a:ext>
            </a:extLst>
          </p:cNvPr>
          <p:cNvCxnSpPr>
            <a:cxnSpLocks/>
            <a:stCxn id="21" idx="2"/>
            <a:endCxn id="22" idx="0"/>
          </p:cNvCxnSpPr>
          <p:nvPr/>
        </p:nvCxnSpPr>
        <p:spPr>
          <a:xfrm rot="10800000" flipV="1">
            <a:off x="7864400" y="2971804"/>
            <a:ext cx="1539343" cy="705980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6" name="肘形接點 25">
            <a:extLst>
              <a:ext uri="{FF2B5EF4-FFF2-40B4-BE49-F238E27FC236}">
                <a16:creationId xmlns:a16="http://schemas.microsoft.com/office/drawing/2014/main" id="{0DE0961C-716E-DF16-36D8-9D7BD3A6783C}"/>
              </a:ext>
            </a:extLst>
          </p:cNvPr>
          <p:cNvCxnSpPr>
            <a:cxnSpLocks/>
            <a:stCxn id="22" idx="4"/>
            <a:endCxn id="23" idx="2"/>
          </p:cNvCxnSpPr>
          <p:nvPr/>
        </p:nvCxnSpPr>
        <p:spPr>
          <a:xfrm rot="16200000" flipH="1">
            <a:off x="8311351" y="4064548"/>
            <a:ext cx="645439" cy="1539343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87303CFF-6001-732F-F966-36C823904B3A}"/>
              </a:ext>
            </a:extLst>
          </p:cNvPr>
          <p:cNvSpPr txBox="1">
            <a:spLocks/>
          </p:cNvSpPr>
          <p:nvPr/>
        </p:nvSpPr>
        <p:spPr>
          <a:xfrm>
            <a:off x="4397658" y="5916719"/>
            <a:ext cx="5206664" cy="448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3200" b="1" dirty="0">
                <a:solidFill>
                  <a:schemeClr val="accent5"/>
                </a:solidFill>
              </a:rPr>
              <a:t>Package</a:t>
            </a:r>
            <a:r>
              <a:rPr lang="zh-TW" altLang="en-US" sz="3200" b="1" dirty="0">
                <a:solidFill>
                  <a:schemeClr val="accent5"/>
                </a:solidFill>
              </a:rPr>
              <a:t> </a:t>
            </a:r>
            <a:r>
              <a:rPr lang="en-US" altLang="zh-TW" sz="3200" b="1" dirty="0">
                <a:solidFill>
                  <a:schemeClr val="accent5"/>
                </a:solidFill>
              </a:rPr>
              <a:t>sorting</a:t>
            </a:r>
            <a:r>
              <a:rPr lang="zh-TW" altLang="en-US" sz="3200" b="1" dirty="0">
                <a:solidFill>
                  <a:schemeClr val="accent5"/>
                </a:solidFill>
              </a:rPr>
              <a:t> </a:t>
            </a:r>
            <a:r>
              <a:rPr lang="en-US" altLang="zh-TW" sz="3200" b="1" dirty="0">
                <a:solidFill>
                  <a:schemeClr val="accent5"/>
                </a:solidFill>
              </a:rPr>
              <a:t>process</a:t>
            </a:r>
            <a:endParaRPr lang="en-US" sz="3200" b="1" dirty="0">
              <a:solidFill>
                <a:schemeClr val="accent5"/>
              </a:solidFill>
            </a:endParaRPr>
          </a:p>
        </p:txBody>
      </p:sp>
      <p:pic>
        <p:nvPicPr>
          <p:cNvPr id="40" name="圖片 39">
            <a:extLst>
              <a:ext uri="{FF2B5EF4-FFF2-40B4-BE49-F238E27FC236}">
                <a16:creationId xmlns:a16="http://schemas.microsoft.com/office/drawing/2014/main" id="{BCDBD2E3-7258-85BB-0A5E-41CAD13716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272" y="1092569"/>
            <a:ext cx="700371" cy="700371"/>
          </a:xfrm>
          <a:prstGeom prst="rect">
            <a:avLst/>
          </a:prstGeom>
        </p:spPr>
      </p:pic>
      <p:pic>
        <p:nvPicPr>
          <p:cNvPr id="41" name="圖片 40">
            <a:extLst>
              <a:ext uri="{FF2B5EF4-FFF2-40B4-BE49-F238E27FC236}">
                <a16:creationId xmlns:a16="http://schemas.microsoft.com/office/drawing/2014/main" id="{A0C98F8A-82E0-4831-AD54-C5316BAE9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4274" y="2621617"/>
            <a:ext cx="700371" cy="700371"/>
          </a:xfrm>
          <a:prstGeom prst="rect">
            <a:avLst/>
          </a:prstGeom>
        </p:spPr>
      </p:pic>
      <p:pic>
        <p:nvPicPr>
          <p:cNvPr id="42" name="圖片 41">
            <a:extLst>
              <a:ext uri="{FF2B5EF4-FFF2-40B4-BE49-F238E27FC236}">
                <a16:creationId xmlns:a16="http://schemas.microsoft.com/office/drawing/2014/main" id="{4F9790F0-3301-5920-271A-C084D208A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8751" y="3713061"/>
            <a:ext cx="700371" cy="700371"/>
          </a:xfrm>
          <a:prstGeom prst="rect">
            <a:avLst/>
          </a:prstGeom>
        </p:spPr>
      </p:pic>
      <p:pic>
        <p:nvPicPr>
          <p:cNvPr id="43" name="圖片 42">
            <a:extLst>
              <a:ext uri="{FF2B5EF4-FFF2-40B4-BE49-F238E27FC236}">
                <a16:creationId xmlns:a16="http://schemas.microsoft.com/office/drawing/2014/main" id="{3D87A9B0-86E4-96E3-FA53-C53716027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594" y="5102007"/>
            <a:ext cx="700371" cy="700371"/>
          </a:xfrm>
          <a:prstGeom prst="rect">
            <a:avLst/>
          </a:prstGeom>
        </p:spPr>
      </p:pic>
      <p:pic>
        <p:nvPicPr>
          <p:cNvPr id="45" name="圖片 44">
            <a:extLst>
              <a:ext uri="{FF2B5EF4-FFF2-40B4-BE49-F238E27FC236}">
                <a16:creationId xmlns:a16="http://schemas.microsoft.com/office/drawing/2014/main" id="{3B8C8551-7401-8A7A-F7AE-F713D0AE8F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9939" y="3901244"/>
            <a:ext cx="157994" cy="157994"/>
          </a:xfrm>
          <a:prstGeom prst="rect">
            <a:avLst/>
          </a:prstGeom>
        </p:spPr>
      </p:pic>
      <p:pic>
        <p:nvPicPr>
          <p:cNvPr id="47" name="圖片 46">
            <a:extLst>
              <a:ext uri="{FF2B5EF4-FFF2-40B4-BE49-F238E27FC236}">
                <a16:creationId xmlns:a16="http://schemas.microsoft.com/office/drawing/2014/main" id="{A01E77B7-B2D9-5C6E-31A4-E7DD5BFABC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9826" y="4195490"/>
            <a:ext cx="573446" cy="573446"/>
          </a:xfrm>
          <a:prstGeom prst="rect">
            <a:avLst/>
          </a:prstGeom>
        </p:spPr>
      </p:pic>
      <p:pic>
        <p:nvPicPr>
          <p:cNvPr id="48" name="圖片 47">
            <a:extLst>
              <a:ext uri="{FF2B5EF4-FFF2-40B4-BE49-F238E27FC236}">
                <a16:creationId xmlns:a16="http://schemas.microsoft.com/office/drawing/2014/main" id="{C3245823-5B0D-DAD7-2008-8A810D52A5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1264" y="5629996"/>
            <a:ext cx="573446" cy="573446"/>
          </a:xfrm>
          <a:prstGeom prst="rect">
            <a:avLst/>
          </a:prstGeom>
        </p:spPr>
      </p:pic>
      <p:pic>
        <p:nvPicPr>
          <p:cNvPr id="50" name="圖片 49">
            <a:extLst>
              <a:ext uri="{FF2B5EF4-FFF2-40B4-BE49-F238E27FC236}">
                <a16:creationId xmlns:a16="http://schemas.microsoft.com/office/drawing/2014/main" id="{13A43D0F-0707-69F0-BA27-F2CCED674D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3625" y="5043297"/>
            <a:ext cx="966863" cy="966863"/>
          </a:xfrm>
          <a:prstGeom prst="rect">
            <a:avLst/>
          </a:prstGeom>
        </p:spPr>
      </p:pic>
      <p:pic>
        <p:nvPicPr>
          <p:cNvPr id="51" name="圖片 50">
            <a:extLst>
              <a:ext uri="{FF2B5EF4-FFF2-40B4-BE49-F238E27FC236}">
                <a16:creationId xmlns:a16="http://schemas.microsoft.com/office/drawing/2014/main" id="{C51CB199-D73D-E483-6440-26AB1B0150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98190" y="5045524"/>
            <a:ext cx="966863" cy="966863"/>
          </a:xfrm>
          <a:prstGeom prst="rect">
            <a:avLst/>
          </a:prstGeom>
        </p:spPr>
      </p:pic>
      <p:pic>
        <p:nvPicPr>
          <p:cNvPr id="52" name="圖片 51">
            <a:extLst>
              <a:ext uri="{FF2B5EF4-FFF2-40B4-BE49-F238E27FC236}">
                <a16:creationId xmlns:a16="http://schemas.microsoft.com/office/drawing/2014/main" id="{6E5E5109-614C-D723-0B98-2BC301034B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316695" y="1319922"/>
            <a:ext cx="966863" cy="966863"/>
          </a:xfrm>
          <a:prstGeom prst="rect">
            <a:avLst/>
          </a:prstGeom>
        </p:spPr>
      </p:pic>
      <p:pic>
        <p:nvPicPr>
          <p:cNvPr id="53" name="圖片 52">
            <a:extLst>
              <a:ext uri="{FF2B5EF4-FFF2-40B4-BE49-F238E27FC236}">
                <a16:creationId xmlns:a16="http://schemas.microsoft.com/office/drawing/2014/main" id="{C9E0B45E-3BC1-A398-B8FE-84FBBCD1C5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2150" y="1600639"/>
            <a:ext cx="573446" cy="573446"/>
          </a:xfrm>
          <a:prstGeom prst="rect">
            <a:avLst/>
          </a:prstGeom>
        </p:spPr>
      </p:pic>
      <p:pic>
        <p:nvPicPr>
          <p:cNvPr id="55" name="圖片 54">
            <a:extLst>
              <a:ext uri="{FF2B5EF4-FFF2-40B4-BE49-F238E27FC236}">
                <a16:creationId xmlns:a16="http://schemas.microsoft.com/office/drawing/2014/main" id="{5C2B0D29-840C-87C6-FFF4-07516E4089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8420" y="3090693"/>
            <a:ext cx="426290" cy="426290"/>
          </a:xfrm>
          <a:prstGeom prst="rect">
            <a:avLst/>
          </a:prstGeom>
        </p:spPr>
      </p:pic>
      <p:pic>
        <p:nvPicPr>
          <p:cNvPr id="56" name="圖片 55">
            <a:extLst>
              <a:ext uri="{FF2B5EF4-FFF2-40B4-BE49-F238E27FC236}">
                <a16:creationId xmlns:a16="http://schemas.microsoft.com/office/drawing/2014/main" id="{2FF3A282-03C4-C724-4EDC-08420F6DB0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6146240" y="1446788"/>
            <a:ext cx="966863" cy="966863"/>
          </a:xfrm>
          <a:prstGeom prst="rect">
            <a:avLst/>
          </a:prstGeom>
        </p:spPr>
      </p:pic>
      <p:pic>
        <p:nvPicPr>
          <p:cNvPr id="58" name="圖片 57">
            <a:extLst>
              <a:ext uri="{FF2B5EF4-FFF2-40B4-BE49-F238E27FC236}">
                <a16:creationId xmlns:a16="http://schemas.microsoft.com/office/drawing/2014/main" id="{9D791724-229C-6078-DD11-1B222168E8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40477" y="858074"/>
            <a:ext cx="994273" cy="994273"/>
          </a:xfrm>
          <a:prstGeom prst="rect">
            <a:avLst/>
          </a:prstGeom>
        </p:spPr>
      </p:pic>
      <p:pic>
        <p:nvPicPr>
          <p:cNvPr id="60" name="圖片 59">
            <a:extLst>
              <a:ext uri="{FF2B5EF4-FFF2-40B4-BE49-F238E27FC236}">
                <a16:creationId xmlns:a16="http://schemas.microsoft.com/office/drawing/2014/main" id="{1F925B79-8015-5DE0-721A-EA67A4E1461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96275" y="2752384"/>
            <a:ext cx="1102907" cy="1102907"/>
          </a:xfrm>
          <a:prstGeom prst="rect">
            <a:avLst/>
          </a:prstGeom>
        </p:spPr>
      </p:pic>
      <p:pic>
        <p:nvPicPr>
          <p:cNvPr id="62" name="圖片 61">
            <a:extLst>
              <a:ext uri="{FF2B5EF4-FFF2-40B4-BE49-F238E27FC236}">
                <a16:creationId xmlns:a16="http://schemas.microsoft.com/office/drawing/2014/main" id="{F3E7F99B-0AC4-6F75-9007-FB3BBDB6402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8282" y="3901244"/>
            <a:ext cx="812433" cy="812433"/>
          </a:xfrm>
          <a:prstGeom prst="rect">
            <a:avLst/>
          </a:prstGeom>
        </p:spPr>
      </p:pic>
      <p:pic>
        <p:nvPicPr>
          <p:cNvPr id="64" name="圖片 63">
            <a:extLst>
              <a:ext uri="{FF2B5EF4-FFF2-40B4-BE49-F238E27FC236}">
                <a16:creationId xmlns:a16="http://schemas.microsoft.com/office/drawing/2014/main" id="{682F03CF-E79F-D1A7-803F-43FAF65908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6833" y="4950453"/>
            <a:ext cx="679543" cy="67954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F82E310-A2AF-9028-07AE-429168276002}"/>
              </a:ext>
            </a:extLst>
          </p:cNvPr>
          <p:cNvSpPr txBox="1"/>
          <p:nvPr/>
        </p:nvSpPr>
        <p:spPr>
          <a:xfrm>
            <a:off x="7652084" y="6503417"/>
            <a:ext cx="45399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b="0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Roboto" panose="02000000000000000000" pitchFamily="2" charset="0"/>
              </a:rPr>
              <a:t>(</a:t>
            </a:r>
            <a:r>
              <a:rPr lang="en-IN" b="0" i="0" dirty="0" err="1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Roboto" panose="02000000000000000000" pitchFamily="2" charset="0"/>
              </a:rPr>
              <a:t>Laudon,K</a:t>
            </a:r>
            <a:r>
              <a:rPr lang="en-IN" b="0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Roboto" panose="02000000000000000000" pitchFamily="2" charset="0"/>
              </a:rPr>
              <a:t>, </a:t>
            </a:r>
            <a:r>
              <a:rPr lang="en-IN" b="0" i="0" dirty="0" err="1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Roboto" panose="02000000000000000000" pitchFamily="2" charset="0"/>
              </a:rPr>
              <a:t>Laudon,J</a:t>
            </a:r>
            <a:r>
              <a:rPr lang="en-IN" b="0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Roboto" panose="02000000000000000000" pitchFamily="2" charset="0"/>
              </a:rPr>
              <a:t>.(2021).Para. 3,6)</a:t>
            </a:r>
            <a:endParaRPr lang="en-IN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algn="r"/>
            <a:endParaRPr lang="en-IN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algn="r"/>
            <a:endParaRPr lang="en-IN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8372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BDE3D-CB39-03D2-545F-528302476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015" y="1759923"/>
            <a:ext cx="10515600" cy="575321"/>
          </a:xfrm>
        </p:spPr>
        <p:txBody>
          <a:bodyPr/>
          <a:lstStyle/>
          <a:p>
            <a:r>
              <a:rPr lang="en-US" altLang="zh-TW" sz="4000" dirty="0"/>
              <a:t>Changes</a:t>
            </a:r>
            <a:endParaRPr lang="en-US" sz="4000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19D6C7A-A7F7-E063-9A09-611D1FB1D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UPS Case Study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683C73-2637-AC0E-5A6B-47B6C6CB9E2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78119" y="2980437"/>
            <a:ext cx="10917641" cy="2858660"/>
          </a:xfrm>
        </p:spPr>
        <p:txBody>
          <a:bodyPr/>
          <a:lstStyle/>
          <a:p>
            <a:r>
              <a:rPr lang="en-US" altLang="zh-TW" sz="2400" dirty="0"/>
              <a:t>Increased efficiency and accuracy in sorting</a:t>
            </a:r>
          </a:p>
          <a:p>
            <a:r>
              <a:rPr lang="en-US" altLang="zh-TW" sz="2400" dirty="0"/>
              <a:t>Improved data collection and analysis</a:t>
            </a:r>
          </a:p>
          <a:p>
            <a:r>
              <a:rPr lang="en-US" altLang="zh-TW" sz="2400" dirty="0"/>
              <a:t>Real-time tracking and decision making</a:t>
            </a:r>
          </a:p>
          <a:p>
            <a:r>
              <a:rPr lang="en-US" altLang="zh-TW" sz="2400" dirty="0"/>
              <a:t>Changes in workforce needs and skills</a:t>
            </a:r>
          </a:p>
          <a:p>
            <a:pPr marL="0" indent="0">
              <a:buNone/>
            </a:pPr>
            <a:endParaRPr lang="en-US" altLang="zh-TW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41D71DF-7225-6C66-9D2B-FAACEFF20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2E4859-3E86-391D-5FA2-44C9485772AE}"/>
              </a:ext>
            </a:extLst>
          </p:cNvPr>
          <p:cNvSpPr txBox="1"/>
          <p:nvPr/>
        </p:nvSpPr>
        <p:spPr>
          <a:xfrm>
            <a:off x="6461281" y="6233082"/>
            <a:ext cx="51523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0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Roboto" panose="02000000000000000000" pitchFamily="2" charset="0"/>
              </a:rPr>
              <a:t>(</a:t>
            </a:r>
            <a:r>
              <a:rPr lang="en-IN" b="0" i="0" dirty="0" err="1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Roboto" panose="02000000000000000000" pitchFamily="2" charset="0"/>
              </a:rPr>
              <a:t>Laudon,K</a:t>
            </a:r>
            <a:r>
              <a:rPr lang="en-IN" b="0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Roboto" panose="02000000000000000000" pitchFamily="2" charset="0"/>
              </a:rPr>
              <a:t>, </a:t>
            </a:r>
            <a:r>
              <a:rPr lang="en-IN" b="0" i="0" dirty="0" err="1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Roboto" panose="02000000000000000000" pitchFamily="2" charset="0"/>
              </a:rPr>
              <a:t>Laudon,J</a:t>
            </a:r>
            <a:r>
              <a:rPr lang="en-IN" b="0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Roboto" panose="02000000000000000000" pitchFamily="2" charset="0"/>
              </a:rPr>
              <a:t>.(2021).Para.10,11,20,21,22)</a:t>
            </a:r>
            <a:endParaRPr lang="en-IN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194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尾版面配置區 1">
            <a:extLst>
              <a:ext uri="{FF2B5EF4-FFF2-40B4-BE49-F238E27FC236}">
                <a16:creationId xmlns:a16="http://schemas.microsoft.com/office/drawing/2014/main" id="{52E847C8-69B8-13CE-799A-ED7EC7080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dirty="0"/>
              <a:t>UPS Case Study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FD0700A-DE69-6677-6886-EBD70B536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8</a:t>
            </a:fld>
            <a:endParaRPr lang="en-US" noProof="0"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0185F4D9-F3D4-28FF-E406-8B38E3C58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0" y="1926282"/>
            <a:ext cx="4846320" cy="721916"/>
          </a:xfrm>
        </p:spPr>
        <p:txBody>
          <a:bodyPr/>
          <a:lstStyle/>
          <a:p>
            <a:r>
              <a:rPr lang="en-US" altLang="zh-TW" sz="4000" dirty="0"/>
              <a:t>Conclusi</a:t>
            </a:r>
            <a:r>
              <a:rPr lang="en-US" altLang="zh-TW" sz="4000" dirty="0">
                <a:solidFill>
                  <a:schemeClr val="bg2"/>
                </a:solidFill>
              </a:rPr>
              <a:t>on</a:t>
            </a:r>
            <a:endParaRPr kumimoji="1" lang="zh-TW" altLang="en-US" sz="4000" dirty="0">
              <a:solidFill>
                <a:schemeClr val="bg2"/>
              </a:solidFill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1D58BB63-1D38-FBCE-706B-26F097B50468}"/>
              </a:ext>
            </a:extLst>
          </p:cNvPr>
          <p:cNvSpPr txBox="1">
            <a:spLocks/>
          </p:cNvSpPr>
          <p:nvPr/>
        </p:nvSpPr>
        <p:spPr>
          <a:xfrm>
            <a:off x="5566793" y="2851759"/>
            <a:ext cx="6625207" cy="40062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83464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500" dirty="0">
                <a:effectLst/>
                <a:latin typeface="Helvetica Neue" panose="02000503000000020004" pitchFamily="2" charset="0"/>
              </a:rPr>
              <a:t>Outdated tech &amp; manual processes</a:t>
            </a:r>
          </a:p>
          <a:p>
            <a:r>
              <a:rPr lang="en-IN" sz="2500" dirty="0">
                <a:effectLst/>
                <a:latin typeface="Helvetica Neue" panose="02000503000000020004" pitchFamily="2" charset="0"/>
              </a:rPr>
              <a:t>$20B automation investment </a:t>
            </a:r>
          </a:p>
          <a:p>
            <a:r>
              <a:rPr lang="en-IN" sz="2500" dirty="0">
                <a:effectLst/>
                <a:latin typeface="Helvetica Neue" panose="02000503000000020004" pitchFamily="2" charset="0"/>
              </a:rPr>
              <a:t>Faster processing &amp; Fewer handling errors</a:t>
            </a:r>
          </a:p>
          <a:p>
            <a:r>
              <a:rPr lang="en-IN" sz="2500" dirty="0">
                <a:effectLst/>
                <a:latin typeface="Helvetica Neue" panose="02000503000000020004" pitchFamily="2" charset="0"/>
              </a:rPr>
              <a:t>Improved scalability &amp;  Real-time analytics</a:t>
            </a:r>
          </a:p>
          <a:p>
            <a:r>
              <a:rPr lang="en-IN" sz="2500" dirty="0">
                <a:effectLst/>
                <a:latin typeface="Helvetica Neue" panose="02000503000000020004" pitchFamily="2" charset="0"/>
              </a:rPr>
              <a:t>Competitive edge vs. FedEx &amp; Amazon</a:t>
            </a:r>
          </a:p>
          <a:p>
            <a:r>
              <a:rPr lang="en-IN" sz="2500" dirty="0">
                <a:effectLst/>
                <a:latin typeface="Helvetica Neue" panose="02000503000000020004" pitchFamily="2" charset="0"/>
              </a:rPr>
              <a:t>Ongoing training needed</a:t>
            </a:r>
          </a:p>
          <a:p>
            <a:pPr marL="0" indent="0">
              <a:buNone/>
            </a:pPr>
            <a:endParaRPr lang="en-IN" sz="2000" dirty="0">
              <a:effectLst/>
              <a:latin typeface="Helvetica Neue" panose="02000503000000020004" pitchFamily="2" charset="0"/>
            </a:endParaRP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C5ABB8-8CEB-AD35-BDCD-25BCBB8E2BB2}"/>
              </a:ext>
            </a:extLst>
          </p:cNvPr>
          <p:cNvSpPr txBox="1"/>
          <p:nvPr/>
        </p:nvSpPr>
        <p:spPr>
          <a:xfrm>
            <a:off x="7796463" y="6233082"/>
            <a:ext cx="411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b="0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Roboto" panose="02000000000000000000" pitchFamily="2" charset="0"/>
              </a:rPr>
              <a:t>(</a:t>
            </a:r>
            <a:r>
              <a:rPr lang="en-IN" b="0" i="0" dirty="0" err="1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Roboto" panose="02000000000000000000" pitchFamily="2" charset="0"/>
              </a:rPr>
              <a:t>Laudon,K</a:t>
            </a:r>
            <a:r>
              <a:rPr lang="en-IN" b="0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Roboto" panose="02000000000000000000" pitchFamily="2" charset="0"/>
              </a:rPr>
              <a:t>, </a:t>
            </a:r>
            <a:r>
              <a:rPr lang="en-IN" b="0" i="0" dirty="0" err="1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Roboto" panose="02000000000000000000" pitchFamily="2" charset="0"/>
              </a:rPr>
              <a:t>Laudon,J</a:t>
            </a:r>
            <a:r>
              <a:rPr lang="en-IN" b="0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Roboto" panose="02000000000000000000" pitchFamily="2" charset="0"/>
              </a:rPr>
              <a:t>.(2021).Page.34)</a:t>
            </a:r>
            <a:endParaRPr lang="en-IN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4539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尾版面配置區 1">
            <a:extLst>
              <a:ext uri="{FF2B5EF4-FFF2-40B4-BE49-F238E27FC236}">
                <a16:creationId xmlns:a16="http://schemas.microsoft.com/office/drawing/2014/main" id="{D0A6C262-A422-442B-0BE2-C80039DAD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dirty="0"/>
              <a:t>UPS Case Study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A14BCE6-F29D-6304-20E0-4C5BF28E9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9</a:t>
            </a:fld>
            <a:endParaRPr lang="en-US" noProof="0"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46252538-45AF-A122-39DE-C6E5FE8AE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References</a:t>
            </a:r>
            <a:endParaRPr kumimoji="1"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EC35AC7D-84A0-3497-0216-536CBB756093}"/>
              </a:ext>
            </a:extLst>
          </p:cNvPr>
          <p:cNvSpPr txBox="1"/>
          <p:nvPr/>
        </p:nvSpPr>
        <p:spPr>
          <a:xfrm>
            <a:off x="603504" y="2884819"/>
            <a:ext cx="1087170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457200"/>
            <a:r>
              <a:rPr lang="fi-FI" sz="1600" b="0" i="0" dirty="0">
                <a:solidFill>
                  <a:srgbClr val="646464"/>
                </a:solidFill>
                <a:effectLst/>
                <a:latin typeface="Roboto" panose="020F0502020204030204" pitchFamily="2" charset="0"/>
              </a:rPr>
              <a:t>Laudon,K.C.,&amp; Laudon ,J.P. (2021</a:t>
            </a:r>
            <a:r>
              <a:rPr lang="fi-FI" sz="1600" b="0" i="1" dirty="0">
                <a:solidFill>
                  <a:srgbClr val="646464"/>
                </a:solidFill>
                <a:effectLst/>
                <a:latin typeface="Roboto" panose="020F0502020204030204" pitchFamily="2" charset="0"/>
              </a:rPr>
              <a:t>).</a:t>
            </a:r>
            <a:r>
              <a:rPr lang="en-US" sz="1600" b="0" i="1" dirty="0">
                <a:solidFill>
                  <a:srgbClr val="646464"/>
                </a:solidFill>
                <a:effectLst/>
                <a:latin typeface="Roboto" panose="020F0502020204030204" pitchFamily="2" charset="0"/>
              </a:rPr>
              <a:t> Management Information Systems: Managing the Digital Firm (17th ed.). Pearson Education (US)</a:t>
            </a:r>
            <a:r>
              <a:rPr lang="en-US" sz="1600" b="0" i="0" dirty="0">
                <a:solidFill>
                  <a:srgbClr val="646464"/>
                </a:solidFill>
                <a:effectLst/>
                <a:latin typeface="Roboto" panose="020F0502020204030204" pitchFamily="2" charset="0"/>
              </a:rPr>
              <a:t>. </a:t>
            </a:r>
            <a:r>
              <a:rPr lang="en-US" sz="1600" b="0" i="0" dirty="0">
                <a:solidFill>
                  <a:srgbClr val="646464"/>
                </a:solidFill>
                <a:effectLst/>
                <a:latin typeface="Roboto" panose="020F0502020204030204" pitchFamily="2" charset="0"/>
                <a:hlinkClick r:id="rId3"/>
              </a:rPr>
              <a:t>https://conestoga-bookshelf.vitalsource.com/books/9780136971627</a:t>
            </a:r>
            <a:endParaRPr lang="en-US" altLang="zh-TW" sz="16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2519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42B9F0A-7ACB-58EB-C317-3A4FFA8D0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dirty="0"/>
              <a:t>UPS Case Study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737BA1-B320-7F41-F3AA-A193EC6AF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10</a:t>
            </a:fld>
            <a:endParaRPr lang="en-US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D42279-C594-78BE-7164-3B7354B33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371600"/>
            <a:ext cx="10871708" cy="2057400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1729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0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753F2C"/>
      </a:accent1>
      <a:accent2>
        <a:srgbClr val="637376"/>
      </a:accent2>
      <a:accent3>
        <a:srgbClr val="BE937E"/>
      </a:accent3>
      <a:accent4>
        <a:srgbClr val="576853"/>
      </a:accent4>
      <a:accent5>
        <a:srgbClr val="EDE9E6"/>
      </a:accent5>
      <a:accent6>
        <a:srgbClr val="D0CDC5"/>
      </a:accent6>
      <a:hlink>
        <a:srgbClr val="4F4F4F"/>
      </a:hlink>
      <a:folHlink>
        <a:srgbClr val="BE937E"/>
      </a:folHlink>
    </a:clrScheme>
    <a:fontScheme name="Custom 13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oject_Status_Report_Win32_jx_v12" id="{5D6FBA16-B4D1-4307-B1D7-61285FA0D9C0}" vid="{1DA9E459-46CB-4408-AA4C-63950E2E54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783CE7D-BFC6-4030-A335-E7F88DB6641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11F98F7-6576-47F1-AD63-56E26C339747}">
  <ds:schemaRefs>
    <ds:schemaRef ds:uri="http://schemas.microsoft.com/office/2006/metadata/properties"/>
    <ds:schemaRef ds:uri="71af3243-3dd4-4a8d-8c0d-dd76da1f02a5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16c05727-aa75-4e4a-9b5f-8a80a1165891"/>
    <ds:schemaRef ds:uri="230e9df3-be65-4c73-a93b-d1236ebd677e"/>
    <ds:schemaRef ds:uri="http://schemas.microsoft.com/sharepoint/v3"/>
    <ds:schemaRef ds:uri="http://purl.org/dc/dcmitype/"/>
    <ds:schemaRef ds:uri="http://schemas.openxmlformats.org/package/2006/metadata/core-properties"/>
    <ds:schemaRef ds:uri="http://purl.org/dc/terms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25B4CAA5-BE7A-46AB-97ED-63B24C46A3A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472</Words>
  <Application>Microsoft Office PowerPoint</Application>
  <PresentationFormat>Widescreen</PresentationFormat>
  <Paragraphs>91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Helvetica Neue</vt:lpstr>
      <vt:lpstr>Aptos</vt:lpstr>
      <vt:lpstr>Arial</vt:lpstr>
      <vt:lpstr>Calibri</vt:lpstr>
      <vt:lpstr>Roboto</vt:lpstr>
      <vt:lpstr>Office Theme</vt:lpstr>
      <vt:lpstr>Case Study  </vt:lpstr>
      <vt:lpstr>Agenda</vt:lpstr>
      <vt:lpstr>Overview</vt:lpstr>
      <vt:lpstr>Problems </vt:lpstr>
      <vt:lpstr>solutions </vt:lpstr>
      <vt:lpstr>PowerPoint Presentation</vt:lpstr>
      <vt:lpstr>Changes</vt:lpstr>
      <vt:lpstr>Conclusion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2022-06-28T06:29:45Z</dcterms:created>
  <dcterms:modified xsi:type="dcterms:W3CDTF">2025-11-13T05:09:34Z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